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11480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2563EB"/>
                </a:solidFill>
              </a:defRPr>
            </a:pPr>
            <a:r>
              <a:t>TECH ZEPHYR 4.0 | IIT BHUBANESWAR • PROBLEM &amp; VISION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24160" y="365760"/>
            <a:ext cx="1051560" cy="292608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64748B"/>
                </a:solidFill>
              </a:defRPr>
            </a:pPr>
            <a:r>
              <a:t>Slide 1 of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713232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PeoplePulse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</a:defRPr>
            </a:pPr>
            <a:r>
              <a:t>From Employee Feedback to Intelligent HR Action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0725912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417320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1. Daily Check-ins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Short pulses submitted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54680" y="1536192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0440" y="1417320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748B"/>
                </a:solidFill>
              </a:defRPr>
            </a:pPr>
            <a:r>
              <a:t>2. Static Dashboards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Raw charts &amp; tables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06440" y="1536192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0" y="1417320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3. Manual Analysis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HR spreadsheets &amp; delays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58200" y="1536192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23960" y="1417320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F4444"/>
                </a:solidFill>
              </a:defRPr>
            </a:pPr>
            <a:r>
              <a:t>4. Delayed Action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Burnout escalates silently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331720"/>
            <a:ext cx="51663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2331720"/>
            <a:ext cx="109728" cy="10515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2468880"/>
            <a:ext cx="4846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Slow Action Cycle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</a:defRPr>
            </a:pPr>
            <a:r>
              <a:t>Employee feedback is collected regularly, but action response is slow and bureaucratic.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520440"/>
            <a:ext cx="51663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3520440"/>
            <a:ext cx="109728" cy="10515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657600"/>
            <a:ext cx="4846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Invisible Burnout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</a:defRPr>
            </a:pPr>
            <a:r>
              <a:t>Managers struggle to identify burnout signals before critical team members resign.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709160"/>
            <a:ext cx="51663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4709160"/>
            <a:ext cx="109728" cy="10515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846320"/>
            <a:ext cx="4846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Passive Dashboards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</a:defRPr>
            </a:pPr>
            <a:r>
              <a:t>Traditional HR tools only display passive insights—they cannot execute interventions.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2331720"/>
            <a:ext cx="5330952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309360" y="2487168"/>
            <a:ext cx="4965192" cy="41148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563EB"/>
                </a:solidFill>
              </a:defRPr>
            </a:pPr>
            <a:r>
              <a:t>⚡ PeoplePulse Live Workplace Radar — Active Tenant Analytics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3017520"/>
            <a:ext cx="1508760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3090672"/>
            <a:ext cx="1417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563EB"/>
                </a:solidFill>
              </a:defRPr>
            </a:pPr>
            <a:r>
              <a:t>84%</a:t>
            </a:r>
          </a:p>
          <a:p>
            <a:pPr>
              <a:defRPr sz="850" b="1">
                <a:solidFill>
                  <a:srgbClr val="64748B"/>
                </a:solidFill>
              </a:defRPr>
            </a:pPr>
            <a:r>
              <a:t>Daily Participation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55280" y="3017520"/>
            <a:ext cx="1508760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01000" y="3090672"/>
            <a:ext cx="1417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F4444"/>
                </a:solidFill>
              </a:defRPr>
            </a:pPr>
            <a:r>
              <a:t>38%</a:t>
            </a:r>
          </a:p>
          <a:p>
            <a:pPr>
              <a:defRPr sz="850" b="1">
                <a:solidFill>
                  <a:srgbClr val="64748B"/>
                </a:solidFill>
              </a:defRPr>
            </a:pPr>
            <a:r>
              <a:t>Burnout Risk (CS)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01200" y="3017520"/>
            <a:ext cx="1508760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46920" y="3090672"/>
            <a:ext cx="1417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7.8/10</a:t>
            </a:r>
          </a:p>
          <a:p>
            <a:pPr>
              <a:defRPr sz="850" b="1">
                <a:solidFill>
                  <a:srgbClr val="64748B"/>
                </a:solidFill>
              </a:defRPr>
            </a:pPr>
            <a:r>
              <a:t>Avg Engagement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09360" y="4206240"/>
            <a:ext cx="4965192" cy="384048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4224528"/>
            <a:ext cx="478231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EF4444"/>
                </a:solidFill>
              </a:defRPr>
            </a:pPr>
            <a:r>
              <a:t>Customer Success  |  68% Engagement  |  ● High Workload Alert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09360" y="4681728"/>
            <a:ext cx="4965192" cy="38404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4700016"/>
            <a:ext cx="478231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B981"/>
                </a:solidFill>
              </a:defRPr>
            </a:pPr>
            <a:r>
              <a:t>Product &amp; Eng  |  88% Engagement  |  ● Healthy Trend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09360" y="5157216"/>
            <a:ext cx="4965192" cy="38404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5175504"/>
            <a:ext cx="478231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563EB"/>
                </a:solidFill>
              </a:defRPr>
            </a:pPr>
            <a:r>
              <a:t>Marketing &amp; Growth  |  79% Engagement  |  ● Stable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1520" y="5897880"/>
            <a:ext cx="10725912" cy="59436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" y="5925312"/>
            <a:ext cx="10543032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PeoplePulse transforms daily employee feedback into meaningful organizational action using Agentic AI.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11480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2563EB"/>
                </a:solidFill>
              </a:defRPr>
            </a:pPr>
            <a:r>
              <a:t>TECH ZEPHYR 4.0 | IIT BHUBANESWAR • AUTONOMOUS HR COPILOT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24160" y="365760"/>
            <a:ext cx="1051560" cy="292608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64748B"/>
                </a:solidFill>
              </a:defRPr>
            </a:pPr>
            <a:r>
              <a:t>Slide 2 of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713232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Meet PulseAgent — Your Autonomous HR Copilot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</a:defRPr>
            </a:pPr>
            <a:r>
              <a:t>PulseAgent is not just a chatbot—it is an autonomous agent executing the full ReAct loop.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0725912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41732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34155"/>
                </a:solidFill>
              </a:defRPr>
            </a:pPr>
            <a:r>
              <a:t>PulseAgent is not just a chatbot. It observes organization health, decides the next best action, uses real tools, evaluates results, and adapts when something fails.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48840"/>
            <a:ext cx="2542032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148840"/>
            <a:ext cx="2542032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4400" y="2423160"/>
            <a:ext cx="2176272" cy="5029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468880"/>
            <a:ext cx="208483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Observe 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017520"/>
            <a:ext cx="21762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F172A"/>
                </a:solidFill>
              </a:defRPr>
            </a:pPr>
            <a:r>
              <a:t>Continuous Health Monitor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429000"/>
            <a:ext cx="217627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4155"/>
                </a:solidFill>
              </a:defRPr>
            </a:pPr>
            <a:r>
              <a:t>Understands engagement, stress, workload, and sentiment through real employee check-in telemetry.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892040"/>
            <a:ext cx="2176272" cy="548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919472"/>
            <a:ext cx="20848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64748B"/>
                </a:solidFill>
              </a:defRPr>
            </a:pPr>
            <a:r>
              <a:t>✓ Tenant Protected</a:t>
            </a:r>
            <a:br/>
            <a:r>
              <a:t>✓ Authorized Action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56432" y="2148840"/>
            <a:ext cx="2542032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56432" y="2148840"/>
            <a:ext cx="2542032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639312" y="2423160"/>
            <a:ext cx="2176272" cy="50292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85032" y="2468880"/>
            <a:ext cx="208483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7C3AED"/>
                </a:solidFill>
              </a:defRPr>
            </a:pPr>
            <a:r>
              <a:t>Decide 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39312" y="3017520"/>
            <a:ext cx="21762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F172A"/>
                </a:solidFill>
              </a:defRPr>
            </a:pPr>
            <a:r>
              <a:t>Autonomous Reasoning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39312" y="3429000"/>
            <a:ext cx="217627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4155"/>
                </a:solidFill>
              </a:defRPr>
            </a:pPr>
            <a:r>
              <a:t>Chooses the appropriate intervention using authorized policy frameworks and Gemini intelligence.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39312" y="4892040"/>
            <a:ext cx="2176272" cy="548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85032" y="4919472"/>
            <a:ext cx="20848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64748B"/>
                </a:solidFill>
              </a:defRPr>
            </a:pPr>
            <a:r>
              <a:t>✓ Tenant Protected</a:t>
            </a:r>
            <a:br/>
            <a:r>
              <a:t>✓ Authorized Action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81344" y="2148840"/>
            <a:ext cx="2542032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81344" y="2148840"/>
            <a:ext cx="2542032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364224" y="2423160"/>
            <a:ext cx="2176272" cy="5029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9944" y="2468880"/>
            <a:ext cx="208483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Act 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64224" y="3017520"/>
            <a:ext cx="21762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F172A"/>
                </a:solidFill>
              </a:defRPr>
            </a:pPr>
            <a:r>
              <a:t>Deterministic Tool Execution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64224" y="3429000"/>
            <a:ext cx="217627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4155"/>
                </a:solidFill>
              </a:defRPr>
            </a:pPr>
            <a:r>
              <a:t>Executes approved HR tools—diagnosing teams, dispatching surveys, and sending briefs.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64224" y="4892040"/>
            <a:ext cx="2176272" cy="548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9944" y="4919472"/>
            <a:ext cx="20848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64748B"/>
                </a:solidFill>
              </a:defRPr>
            </a:pPr>
            <a:r>
              <a:t>✓ Tenant Protected</a:t>
            </a:r>
            <a:br/>
            <a:r>
              <a:t>✓ Authorized Action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906256" y="2148840"/>
            <a:ext cx="2542032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906256" y="2148840"/>
            <a:ext cx="2542032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089136" y="2423160"/>
            <a:ext cx="2176272" cy="50292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34856" y="2468880"/>
            <a:ext cx="208483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Adapt 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89136" y="3017520"/>
            <a:ext cx="21762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F172A"/>
                </a:solidFill>
              </a:defRPr>
            </a:pPr>
            <a:r>
              <a:t>Self-Correcting Strategy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89136" y="3429000"/>
            <a:ext cx="217627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4155"/>
                </a:solidFill>
              </a:defRPr>
            </a:pPr>
            <a:r>
              <a:t>Evaluates live outcomes, detects channel failures, and switches strategies automatically.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089136" y="4892040"/>
            <a:ext cx="2176272" cy="548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34856" y="4919472"/>
            <a:ext cx="20848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64748B"/>
                </a:solidFill>
              </a:defRPr>
            </a:pPr>
            <a:r>
              <a:t>✓ Tenant Protected</a:t>
            </a:r>
            <a:br/>
            <a:r>
              <a:t>✓ Authorized Action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31520" y="5806440"/>
            <a:ext cx="10725912" cy="64008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60" y="5852160"/>
            <a:ext cx="10543032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1">
                <a:solidFill>
                  <a:srgbClr val="2563EB"/>
                </a:solidFill>
              </a:defRPr>
            </a:pPr>
            <a:r>
              <a:t>An AI teammate that helps HR move from insight to action.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11480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2563EB"/>
                </a:solidFill>
              </a:defRPr>
            </a:pPr>
            <a:r>
              <a:t>TECH ZEPHYR 4.0 | IIT BHUBANESWAR • SYSTEM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24160" y="365760"/>
            <a:ext cx="1051560" cy="292608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64748B"/>
                </a:solidFill>
              </a:defRPr>
            </a:pPr>
            <a:r>
              <a:t>Slide 3 of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713232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How PulseAgent Works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</a:defRPr>
            </a:pPr>
            <a:r>
              <a:t>Enterprise-grade architecture built for speed, tenant security, and observable execution.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0725912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399032"/>
            <a:ext cx="10543032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850" b="1">
                <a:solidFill>
                  <a:srgbClr val="2563EB"/>
                </a:solidFill>
              </a:defRPr>
            </a:pPr>
            <a:r>
              <a:t>Employee / Manager  ➔  PeoplePulse Web App  ➔  PulseAgent Orchestrator  ➔  Tool Registry  ➔  Supabase &amp; AI  ➔  Observe  ➔  Evaluate  ➔  Adapt  ➔  HR Outcome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48840"/>
            <a:ext cx="2542032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148840"/>
            <a:ext cx="2542032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6112" y="2377440"/>
            <a:ext cx="2212848" cy="56692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404872"/>
            <a:ext cx="213969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Frontend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Client Experience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3063240"/>
            <a:ext cx="2212848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950">
                <a:solidFill>
                  <a:srgbClr val="334155"/>
                </a:solidFill>
              </a:defRPr>
            </a:pPr>
            <a:r>
              <a:t>• React 18 &amp; Vite SPA</a:t>
            </a:r>
          </a:p>
          <a:p>
            <a:pPr>
              <a:spcBef>
                <a:spcPts val="400"/>
              </a:spcBef>
              <a:defRPr sz="950">
                <a:solidFill>
                  <a:srgbClr val="334155"/>
                </a:solidFill>
              </a:defRPr>
            </a:pPr>
            <a:r>
              <a:t>• Employee Pulse Dashboard</a:t>
            </a:r>
          </a:p>
          <a:p>
            <a:pPr>
              <a:spcBef>
                <a:spcPts val="400"/>
              </a:spcBef>
              <a:defRPr sz="950">
                <a:solidFill>
                  <a:srgbClr val="334155"/>
                </a:solidFill>
              </a:defRPr>
            </a:pPr>
            <a:r>
              <a:t>• Manager Health Console</a:t>
            </a:r>
          </a:p>
          <a:p>
            <a:pPr>
              <a:spcBef>
                <a:spcPts val="400"/>
              </a:spcBef>
              <a:defRPr sz="950">
                <a:solidFill>
                  <a:srgbClr val="334155"/>
                </a:solidFill>
              </a:defRPr>
            </a:pPr>
            <a:r>
              <a:t>• Admin Governance Portal</a:t>
            </a:r>
          </a:p>
          <a:p>
            <a:pPr>
              <a:spcBef>
                <a:spcPts val="400"/>
              </a:spcBef>
              <a:defRPr sz="950">
                <a:solidFill>
                  <a:srgbClr val="334155"/>
                </a:solidFill>
              </a:defRPr>
            </a:pPr>
            <a:r>
              <a:t>• PulseAgent Interactive Chat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56432" y="2148840"/>
            <a:ext cx="2542032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56432" y="2148840"/>
            <a:ext cx="2542032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621024" y="2377440"/>
            <a:ext cx="2212848" cy="566928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2404872"/>
            <a:ext cx="213969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7C3AED"/>
                </a:solidFill>
              </a:defRPr>
            </a:pPr>
            <a:r>
              <a:t>Agent Layer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Autonomous ReAct Loop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21024" y="3063240"/>
            <a:ext cx="2212848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950">
                <a:solidFill>
                  <a:srgbClr val="334155"/>
                </a:solidFill>
              </a:defRPr>
            </a:pPr>
            <a:r>
              <a:t>• Goal Planner &amp; Parser</a:t>
            </a:r>
          </a:p>
          <a:p>
            <a:pPr>
              <a:spcBef>
                <a:spcPts val="400"/>
              </a:spcBef>
              <a:defRPr sz="950">
                <a:solidFill>
                  <a:srgbClr val="334155"/>
                </a:solidFill>
              </a:defRPr>
            </a:pPr>
            <a:r>
              <a:t>• Gemini Decision Engine</a:t>
            </a:r>
          </a:p>
          <a:p>
            <a:pPr>
              <a:spcBef>
                <a:spcPts val="400"/>
              </a:spcBef>
              <a:defRPr sz="950">
                <a:solidFill>
                  <a:srgbClr val="334155"/>
                </a:solidFill>
              </a:defRPr>
            </a:pPr>
            <a:r>
              <a:t>• Deterministic Tool Executor</a:t>
            </a:r>
          </a:p>
          <a:p>
            <a:pPr>
              <a:spcBef>
                <a:spcPts val="400"/>
              </a:spcBef>
              <a:defRPr sz="950">
                <a:solidFill>
                  <a:srgbClr val="334155"/>
                </a:solidFill>
              </a:defRPr>
            </a:pPr>
            <a:r>
              <a:t>• Evaluation Engine</a:t>
            </a:r>
          </a:p>
          <a:p>
            <a:pPr>
              <a:spcBef>
                <a:spcPts val="400"/>
              </a:spcBef>
              <a:defRPr sz="950">
                <a:solidFill>
                  <a:srgbClr val="334155"/>
                </a:solidFill>
              </a:defRPr>
            </a:pPr>
            <a:r>
              <a:t>• Dynamic Adaptation Logic</a:t>
            </a:r>
          </a:p>
          <a:p>
            <a:pPr>
              <a:spcBef>
                <a:spcPts val="400"/>
              </a:spcBef>
              <a:defRPr sz="950">
                <a:solidFill>
                  <a:srgbClr val="334155"/>
                </a:solidFill>
              </a:defRPr>
            </a:pPr>
            <a:r>
              <a:t>• Immutable Audit Trail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81344" y="2148840"/>
            <a:ext cx="2542032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81344" y="2148840"/>
            <a:ext cx="2542032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345936" y="2377440"/>
            <a:ext cx="2212848" cy="56692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82512" y="2404872"/>
            <a:ext cx="213969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Data Layer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Supabase PostgreSQL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45936" y="3063240"/>
            <a:ext cx="2212848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950">
                <a:solidFill>
                  <a:srgbClr val="334155"/>
                </a:solidFill>
              </a:defRPr>
            </a:pPr>
            <a:r>
              <a:t>• Daily Check-in Telemetry</a:t>
            </a:r>
          </a:p>
          <a:p>
            <a:pPr>
              <a:spcBef>
                <a:spcPts val="400"/>
              </a:spcBef>
              <a:defRPr sz="950">
                <a:solidFill>
                  <a:srgbClr val="334155"/>
                </a:solidFill>
              </a:defRPr>
            </a:pPr>
            <a:r>
              <a:t>• Team Hierarchies &amp; Org Map</a:t>
            </a:r>
          </a:p>
          <a:p>
            <a:pPr>
              <a:spcBef>
                <a:spcPts val="400"/>
              </a:spcBef>
              <a:defRPr sz="950">
                <a:solidFill>
                  <a:srgbClr val="334155"/>
                </a:solidFill>
              </a:defRPr>
            </a:pPr>
            <a:r>
              <a:t>• Engagement &amp; Stress Metrics</a:t>
            </a:r>
          </a:p>
          <a:p>
            <a:pPr>
              <a:spcBef>
                <a:spcPts val="400"/>
              </a:spcBef>
              <a:defRPr sz="950">
                <a:solidFill>
                  <a:srgbClr val="334155"/>
                </a:solidFill>
              </a:defRPr>
            </a:pPr>
            <a:r>
              <a:t>• Sentiment Analysis Store</a:t>
            </a:r>
          </a:p>
          <a:p>
            <a:pPr>
              <a:spcBef>
                <a:spcPts val="400"/>
              </a:spcBef>
              <a:defRPr sz="950">
                <a:solidFill>
                  <a:srgbClr val="334155"/>
                </a:solidFill>
              </a:defRPr>
            </a:pPr>
            <a:r>
              <a:t>• Survey Question Bank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06256" y="2148840"/>
            <a:ext cx="2542032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06256" y="2148840"/>
            <a:ext cx="2542032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070848" y="2377440"/>
            <a:ext cx="2212848" cy="566928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07424" y="2404872"/>
            <a:ext cx="213969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59E0B"/>
                </a:solidFill>
              </a:defRPr>
            </a:pPr>
            <a:r>
              <a:t>Security &amp; Trust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Enterprise Governance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70848" y="3063240"/>
            <a:ext cx="2212848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950">
                <a:solidFill>
                  <a:srgbClr val="334155"/>
                </a:solidFill>
              </a:defRPr>
            </a:pPr>
            <a:r>
              <a:t>• Strict Role-Based Access (RBAC)</a:t>
            </a:r>
          </a:p>
          <a:p>
            <a:pPr>
              <a:spcBef>
                <a:spcPts val="400"/>
              </a:spcBef>
              <a:defRPr sz="950">
                <a:solidFill>
                  <a:srgbClr val="334155"/>
                </a:solidFill>
              </a:defRPr>
            </a:pPr>
            <a:r>
              <a:t>• Tenant Isolation (RLS)</a:t>
            </a:r>
          </a:p>
          <a:p>
            <a:pPr>
              <a:spcBef>
                <a:spcPts val="400"/>
              </a:spcBef>
              <a:defRPr sz="950">
                <a:solidFill>
                  <a:srgbClr val="334155"/>
                </a:solidFill>
              </a:defRPr>
            </a:pPr>
            <a:r>
              <a:t>• Anonymous Privacy Shield</a:t>
            </a:r>
          </a:p>
          <a:p>
            <a:pPr>
              <a:spcBef>
                <a:spcPts val="400"/>
              </a:spcBef>
              <a:defRPr sz="950">
                <a:solidFill>
                  <a:srgbClr val="334155"/>
                </a:solidFill>
              </a:defRPr>
            </a:pPr>
            <a:r>
              <a:t>• Server-Side Secret Guards</a:t>
            </a:r>
          </a:p>
          <a:p>
            <a:pPr>
              <a:spcBef>
                <a:spcPts val="400"/>
              </a:spcBef>
              <a:defRPr sz="950">
                <a:solidFill>
                  <a:srgbClr val="334155"/>
                </a:solidFill>
              </a:defRPr>
            </a:pPr>
            <a:r>
              <a:t>• Authorized Tool Allowlist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6217920"/>
            <a:ext cx="107259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64748B"/>
                </a:solidFill>
              </a:defRPr>
            </a:pPr>
            <a:r>
              <a:t>Engineered for clarity: Judges can understand the entire end-to-end stack in under 30 seconds.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11480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2563EB"/>
                </a:solidFill>
              </a:defRPr>
            </a:pPr>
            <a:r>
              <a:t>TECH ZEPHYR 4.0 | IIT BHUBANESWAR • HERO SLIDE • AUTONOMOUS REACT LOOP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24160" y="365760"/>
            <a:ext cx="1051560" cy="292608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64748B"/>
                </a:solidFill>
              </a:defRPr>
            </a:pPr>
            <a:r>
              <a:t>Slide 4 of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713232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Goal ➔ Decision ➔ Action ➔ Evaluation ➔ Adaptation ➔ Outcome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</a:defRPr>
            </a:pPr>
            <a:r>
              <a:t>Live execution walkthrough: Customer Success burnout investigation with real tool dispatching.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664208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1664208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41248" y="1554480"/>
            <a:ext cx="1444752" cy="38404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572768"/>
            <a:ext cx="140817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2563EB"/>
                </a:solidFill>
              </a:defRPr>
            </a:pPr>
            <a:r>
              <a:t>🎯 GOAL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011680"/>
            <a:ext cx="144475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F172A"/>
                </a:solidFill>
              </a:defRPr>
            </a:pPr>
            <a:r>
              <a:t>Investigate Burnout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468880"/>
            <a:ext cx="144475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334155"/>
                </a:solidFill>
              </a:defRPr>
            </a:pPr>
            <a:r>
              <a:t>“Investigate Customer Success team burnout.”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2576" y="2834640"/>
            <a:ext cx="2560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563EB"/>
                </a:solidFill>
              </a:defRPr>
            </a:pPr>
            <a:r>
              <a:t>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42032" y="1371600"/>
            <a:ext cx="1664208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542032" y="1371600"/>
            <a:ext cx="1664208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651760" y="1554480"/>
            <a:ext cx="1444752" cy="384048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70048" y="1572768"/>
            <a:ext cx="140817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7C3AED"/>
                </a:solidFill>
              </a:defRPr>
            </a:pPr>
            <a:r>
              <a:t>🧠 DECISION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2011680"/>
            <a:ext cx="144475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F172A"/>
                </a:solidFill>
              </a:defRPr>
            </a:pPr>
            <a:r>
              <a:t>Inspect Health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51760" y="2468880"/>
            <a:ext cx="144475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334155"/>
                </a:solidFill>
              </a:defRPr>
            </a:pPr>
            <a:r>
              <a:t>PulseAgent decides to inspect organization and team health metrics.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33088" y="2834640"/>
            <a:ext cx="2560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563EB"/>
                </a:solidFill>
              </a:defRPr>
            </a:pPr>
            <a:r>
              <a:t>➔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52544" y="1371600"/>
            <a:ext cx="1664208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52544" y="1371600"/>
            <a:ext cx="1664208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462272" y="1554480"/>
            <a:ext cx="1444752" cy="38404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80560" y="1572768"/>
            <a:ext cx="140817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10B981"/>
                </a:solidFill>
              </a:defRPr>
            </a:pPr>
            <a:r>
              <a:t>🔧 ACTION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62272" y="2011680"/>
            <a:ext cx="144475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F172A"/>
                </a:solidFill>
              </a:defRPr>
            </a:pPr>
            <a:r>
              <a:t>Call Approved Tools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62272" y="2468880"/>
            <a:ext cx="144475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334155"/>
                </a:solidFill>
              </a:defRPr>
            </a:pPr>
            <a:r>
              <a:t>Calls approved tools:</a:t>
            </a:r>
            <a:br/>
            <a:r>
              <a:t>• get_organization_metrics</a:t>
            </a:r>
            <a:br/>
            <a:r>
              <a:t>• diagnose_team_health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2834640"/>
            <a:ext cx="2560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563EB"/>
                </a:solidFill>
              </a:defRPr>
            </a:pPr>
            <a:r>
              <a:t>➔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63056" y="1371600"/>
            <a:ext cx="1664208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63056" y="1371600"/>
            <a:ext cx="1664208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272784" y="1554480"/>
            <a:ext cx="1444752" cy="38404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91072" y="1572768"/>
            <a:ext cx="140817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2563EB"/>
                </a:solidFill>
              </a:defRPr>
            </a:pPr>
            <a:r>
              <a:t>👁 OBSERVATION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72784" y="2011680"/>
            <a:ext cx="144475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F172A"/>
                </a:solidFill>
              </a:defRPr>
            </a:pPr>
            <a:r>
              <a:t>Live Telemetry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72784" y="2468880"/>
            <a:ext cx="144475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334155"/>
                </a:solidFill>
              </a:defRPr>
            </a:pPr>
            <a:r>
              <a:t>Receives live engagement (68%), stress (78%), and participation data.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54112" y="2834640"/>
            <a:ext cx="2560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563EB"/>
                </a:solidFill>
              </a:defRPr>
            </a:pPr>
            <a:r>
              <a:t>➔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973568" y="1371600"/>
            <a:ext cx="1664208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973568" y="1371600"/>
            <a:ext cx="1664208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083296" y="1554480"/>
            <a:ext cx="1444752" cy="384048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01584" y="1572768"/>
            <a:ext cx="140817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F59E0B"/>
                </a:solidFill>
              </a:defRPr>
            </a:pPr>
            <a:r>
              <a:t>⚖️ EVALUATION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83296" y="2011680"/>
            <a:ext cx="144475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F172A"/>
                </a:solidFill>
              </a:defRPr>
            </a:pPr>
            <a:r>
              <a:t>Intervention Test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83296" y="2468880"/>
            <a:ext cx="144475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334155"/>
                </a:solidFill>
              </a:defRPr>
            </a:pPr>
            <a:r>
              <a:t>Determines that proactive intervention is critically required.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64624" y="2834640"/>
            <a:ext cx="2560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563EB"/>
                </a:solidFill>
              </a:defRPr>
            </a:pPr>
            <a:r>
              <a:t>➔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784080" y="1371600"/>
            <a:ext cx="1664208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784080" y="1371600"/>
            <a:ext cx="1664208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9893808" y="1554480"/>
            <a:ext cx="1444752" cy="384048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912096" y="1572768"/>
            <a:ext cx="140817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7C3AED"/>
                </a:solidFill>
              </a:defRPr>
            </a:pPr>
            <a:r>
              <a:t>🔄 ADAPTATION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93808" y="2011680"/>
            <a:ext cx="144475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F172A"/>
                </a:solidFill>
              </a:defRPr>
            </a:pPr>
            <a:r>
              <a:t>Execute Response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893808" y="2468880"/>
            <a:ext cx="144475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334155"/>
                </a:solidFill>
              </a:defRPr>
            </a:pPr>
            <a:r>
              <a:t>Creates a targeted adaptive survey and generates manager brief.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800600"/>
            <a:ext cx="10725912" cy="86868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14400" y="4846320"/>
            <a:ext cx="103601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FINAL OUTCOME: Measurable HR Resolution</a:t>
            </a:r>
          </a:p>
          <a:p>
            <a:pPr>
              <a:spcBef>
                <a:spcPts val="200"/>
              </a:spcBef>
              <a:defRPr sz="950">
                <a:solidFill>
                  <a:srgbClr val="334155"/>
                </a:solidFill>
              </a:defRPr>
            </a:pPr>
            <a:r>
              <a:t>Managers receive actionable 1:1 talking points while employee privacy remains 100% protected through aggregation thresholds. Follow-up pulse survey deployed to track recovery.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1520" y="5806440"/>
            <a:ext cx="1072591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64748B"/>
                </a:solidFill>
              </a:defRPr>
            </a:pPr>
            <a:r>
              <a:t>Every step is authorized, observable and auditable. (Zero exposed chain-of-thought; strictly safe reasoning summaries).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11480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2563EB"/>
                </a:solidFill>
              </a:defRPr>
            </a:pPr>
            <a:r>
              <a:t>TECH ZEPHYR 4.0 | IIT BHUBANESWAR • LIVE DEMONSTRATION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24160" y="365760"/>
            <a:ext cx="1051560" cy="292608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64748B"/>
                </a:solidFill>
              </a:defRPr>
            </a:pPr>
            <a:r>
              <a:t>Slide 5 of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713232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Live Demo Scenario &amp; Execution Trace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</a:defRPr>
            </a:pPr>
            <a:r>
              <a:t>Watch PulseAgent handle an urgent prompt live in production with real tool execution.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0725912" cy="658368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17320"/>
            <a:ext cx="103601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2563EB"/>
                </a:solidFill>
              </a:defRPr>
            </a:pPr>
            <a:r>
              <a:t>USER PROMPT: “Investigate the Customer Success team's health and take the appropriate action.”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48840"/>
            <a:ext cx="475488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240280"/>
            <a:ext cx="43891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950" b="1">
                <a:solidFill>
                  <a:srgbClr val="2563EB"/>
                </a:solidFill>
              </a:defRPr>
            </a:pPr>
            <a:r>
              <a:t>GOAL ➔ Investigate team wellbeing</a:t>
            </a:r>
          </a:p>
          <a:p>
            <a:pPr>
              <a:spcBef>
                <a:spcPts val="400"/>
              </a:spcBef>
              <a:defRPr sz="950" b="1">
                <a:solidFill>
                  <a:srgbClr val="7C3AED"/>
                </a:solidFill>
              </a:defRPr>
            </a:pPr>
            <a:r>
              <a:t>DECISION ➔ Analyze engagement and stress telemetry</a:t>
            </a:r>
          </a:p>
          <a:p>
            <a:pPr>
              <a:spcBef>
                <a:spcPts val="400"/>
              </a:spcBef>
              <a:defRPr sz="950" b="1">
                <a:solidFill>
                  <a:srgbClr val="10B981"/>
                </a:solidFill>
              </a:defRPr>
            </a:pPr>
            <a:r>
              <a:t>ACTION ➔ Run diagnostic tools on Customer Success</a:t>
            </a:r>
          </a:p>
          <a:p>
            <a:pPr>
              <a:spcBef>
                <a:spcPts val="400"/>
              </a:spcBef>
              <a:defRPr sz="950" b="1">
                <a:solidFill>
                  <a:srgbClr val="2563EB"/>
                </a:solidFill>
              </a:defRPr>
            </a:pPr>
            <a:r>
              <a:t>OBSERVATION ➔ Identify low engagement (68%) &amp; capacity strain</a:t>
            </a:r>
          </a:p>
          <a:p>
            <a:pPr>
              <a:spcBef>
                <a:spcPts val="400"/>
              </a:spcBef>
              <a:defRPr sz="950" b="1">
                <a:solidFill>
                  <a:srgbClr val="F59E0B"/>
                </a:solidFill>
              </a:defRPr>
            </a:pPr>
            <a:r>
              <a:t>EVALUATION ➔ Choose best proactive intervention path</a:t>
            </a:r>
          </a:p>
          <a:p>
            <a:pPr>
              <a:spcBef>
                <a:spcPts val="400"/>
              </a:spcBef>
              <a:defRPr sz="950" b="1">
                <a:solidFill>
                  <a:srgbClr val="7C3AED"/>
                </a:solidFill>
              </a:defRPr>
            </a:pPr>
            <a:r>
              <a:t>ADAPTATION ➔ Deploy adaptive survey + generate manager brief</a:t>
            </a:r>
          </a:p>
          <a:p>
            <a:pPr>
              <a:spcBef>
                <a:spcPts val="400"/>
              </a:spcBef>
              <a:defRPr sz="950" b="1">
                <a:solidFill>
                  <a:srgbClr val="10B981"/>
                </a:solidFill>
              </a:defRPr>
            </a:pPr>
            <a:r>
              <a:t>FINAL RESULT ➔ Clear HR guidance + persistent Supabase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0" y="2148840"/>
            <a:ext cx="5788152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833872" y="2267712"/>
            <a:ext cx="5458968" cy="34747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97880" y="2286000"/>
            <a:ext cx="533095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2563EB"/>
                </a:solidFill>
              </a:defRPr>
            </a:pPr>
            <a:r>
              <a:t>TERMINAL • PulseAgent Autonomous Trace Stream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33872" y="2724912"/>
            <a:ext cx="5458968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88736" y="2761488"/>
            <a:ext cx="5349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2563EB"/>
                </a:solidFill>
              </a:defRPr>
            </a:pPr>
            <a:r>
              <a:t>[TOOL EXEC] get_organization_metrics(organization_id)</a:t>
            </a:r>
          </a:p>
          <a:p>
            <a:pPr>
              <a:defRPr sz="800">
                <a:solidFill>
                  <a:srgbClr val="334155"/>
                </a:solidFill>
              </a:defRPr>
            </a:pPr>
            <a:r>
              <a:t>Checked 142 check-ins across 5 teams (Org avg: 74%).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33872" y="3346704"/>
            <a:ext cx="5458968" cy="530352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88736" y="3383280"/>
            <a:ext cx="5349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F59E0B"/>
                </a:solidFill>
              </a:defRPr>
            </a:pPr>
            <a:r>
              <a:t>[TOOL EXEC] diagnose_team_health(team='Customer Success')</a:t>
            </a:r>
          </a:p>
          <a:p>
            <a:pPr>
              <a:defRPr sz="800">
                <a:solidFill>
                  <a:srgbClr val="334155"/>
                </a:solidFill>
              </a:defRPr>
            </a:pPr>
            <a:r>
              <a:t>CS Engagement: 68% | Stress: High | Workload: Critical.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33872" y="3968496"/>
            <a:ext cx="5458968" cy="530352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88736" y="4005072"/>
            <a:ext cx="5349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7C3AED"/>
                </a:solidFill>
              </a:defRPr>
            </a:pPr>
            <a:r>
              <a:t>[EVALUATION] Intervention Threshold Reached</a:t>
            </a:r>
          </a:p>
          <a:p>
            <a:pPr>
              <a:defRPr sz="800">
                <a:solidFill>
                  <a:srgbClr val="334155"/>
                </a:solidFill>
              </a:defRPr>
            </a:pPr>
            <a:r>
              <a:t>Score falls below 70% threshold. Immediate action triggered.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33872" y="4590288"/>
            <a:ext cx="5458968" cy="530352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88736" y="4626864"/>
            <a:ext cx="5349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10B981"/>
                </a:solidFill>
              </a:defRPr>
            </a:pPr>
            <a:r>
              <a:t>[ACTION] dispatch_adaptive_survey(target='Customer Success')</a:t>
            </a:r>
          </a:p>
          <a:p>
            <a:pPr>
              <a:defRPr sz="800">
                <a:solidFill>
                  <a:srgbClr val="334155"/>
                </a:solidFill>
              </a:defRPr>
            </a:pPr>
            <a:r>
              <a:t>Inserted: “Do you have bandwidth for sprint priorities?”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33872" y="5212080"/>
            <a:ext cx="5458968" cy="530352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88736" y="5248656"/>
            <a:ext cx="5349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10B981"/>
                </a:solidFill>
              </a:defRPr>
            </a:pPr>
            <a:r>
              <a:t>[ACTION] trigger_manager_action_brief(team='Customer Success')</a:t>
            </a:r>
          </a:p>
          <a:p>
            <a:pPr>
              <a:defRPr sz="800">
                <a:solidFill>
                  <a:srgbClr val="334155"/>
                </a:solidFill>
              </a:defRPr>
            </a:pPr>
            <a:r>
              <a:t>Coaching talking points dispatched to team lead.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6217920"/>
            <a:ext cx="107259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2563EB"/>
                </a:solidFill>
              </a:defRPr>
            </a:pPr>
            <a:r>
              <a:t>Live demonstration uses real application data and actual tool execution. No simulated recordings.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11480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2563EB"/>
                </a:solidFill>
              </a:defRPr>
            </a:pPr>
            <a:r>
              <a:t>TECH ZEPHYR 4.0 | IIT BHUBANESWAR • IMPACT &amp; 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24160" y="365760"/>
            <a:ext cx="1051560" cy="292608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64748B"/>
                </a:solidFill>
              </a:defRPr>
            </a:pPr>
            <a:r>
              <a:t>Slide 6 of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713232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From Dashboard to Digital HR Teammate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</a:defRPr>
            </a:pPr>
            <a:r>
              <a:t>Transforming passive HR metrics into proactive, autonomous organizational resilience.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230368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5230368" cy="914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36192"/>
            <a:ext cx="4864608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F4444"/>
                </a:solidFill>
              </a:defRPr>
            </a:pPr>
            <a:r>
              <a:t>BEFORE: Traditional Dashboard Fatigue</a:t>
            </a:r>
          </a:p>
          <a:p>
            <a:pPr>
              <a:spcBef>
                <a:spcPts val="600"/>
              </a:spcBef>
              <a:defRPr sz="950">
                <a:solidFill>
                  <a:srgbClr val="334155"/>
                </a:solidFill>
              </a:defRPr>
            </a:pPr>
            <a:r>
              <a:t>Employee Feedback  ➔  Static Dashboard  ➔  Manual Interpretation  ➔  Slow Decisions  ➔  Delayed Follow-up</a:t>
            </a:r>
          </a:p>
          <a:p>
            <a:pPr>
              <a:spcBef>
                <a:spcPts val="600"/>
              </a:spcBef>
              <a:defRPr sz="900">
                <a:solidFill>
                  <a:srgbClr val="64748B"/>
                </a:solidFill>
              </a:defRPr>
            </a:pPr>
            <a:r>
              <a:t>Result: Burnout goes unaddressed until resignation notices arrive.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30368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371600"/>
            <a:ext cx="5230368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536192"/>
            <a:ext cx="4864608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AFTER: PeoplePulse Autonomous Teammate</a:t>
            </a:r>
          </a:p>
          <a:p>
            <a:pPr>
              <a:spcBef>
                <a:spcPts val="600"/>
              </a:spcBef>
              <a:defRPr sz="950">
                <a:solidFill>
                  <a:srgbClr val="334155"/>
                </a:solidFill>
              </a:defRPr>
            </a:pPr>
            <a:r>
              <a:t>Daily Check-ins  ➔  PulseAgent  ➔  Autonomous Decisions  ➔  Tool Execution  ➔  Adaptation  ➔  HR Outcome</a:t>
            </a:r>
          </a:p>
          <a:p>
            <a:pPr>
              <a:spcBef>
                <a:spcPts val="600"/>
              </a:spcBef>
              <a:defRPr sz="900">
                <a:solidFill>
                  <a:srgbClr val="10B981"/>
                </a:solidFill>
              </a:defRPr>
            </a:pPr>
            <a:r>
              <a:t>Result: Immediate diagnosis and automated intervention within minutes.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749039"/>
            <a:ext cx="3401568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3749039"/>
            <a:ext cx="3401568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3886200"/>
            <a:ext cx="307238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⚡ Faster Identification</a:t>
            </a:r>
          </a:p>
          <a:p>
            <a:pPr>
              <a:spcBef>
                <a:spcPts val="300"/>
              </a:spcBef>
              <a:defRPr sz="900">
                <a:solidFill>
                  <a:srgbClr val="334155"/>
                </a:solidFill>
              </a:defRPr>
            </a:pPr>
            <a:r>
              <a:t>Detects burnout patterns days ahead through live check-in telemetry and NLP.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3749039"/>
            <a:ext cx="3401568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89120" y="3749039"/>
            <a:ext cx="3401568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53712" y="3886200"/>
            <a:ext cx="307238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7C3AED"/>
                </a:solidFill>
              </a:defRPr>
            </a:pPr>
            <a:r>
              <a:t>🎯 Targeted Interventions</a:t>
            </a:r>
          </a:p>
          <a:p>
            <a:pPr>
              <a:spcBef>
                <a:spcPts val="300"/>
              </a:spcBef>
              <a:defRPr sz="900">
                <a:solidFill>
                  <a:srgbClr val="334155"/>
                </a:solidFill>
              </a:defRPr>
            </a:pPr>
            <a:r>
              <a:t>Equips managers with personalized 1:1 coaching guides without employee privacy risk.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3749039"/>
            <a:ext cx="3401568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0" y="3749039"/>
            <a:ext cx="3401568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11312" y="3886200"/>
            <a:ext cx="307238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🔄 Continuous Improvement</a:t>
            </a:r>
          </a:p>
          <a:p>
            <a:pPr>
              <a:spcBef>
                <a:spcPts val="300"/>
              </a:spcBef>
              <a:defRPr sz="900">
                <a:solidFill>
                  <a:srgbClr val="334155"/>
                </a:solidFill>
              </a:defRPr>
            </a:pPr>
            <a:r>
              <a:t>Deploys targeted adaptive surveys to measure recovery and close feedback loops.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120640"/>
            <a:ext cx="10725912" cy="77724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166360"/>
            <a:ext cx="10543032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“PeoplePulse doesn't just analyze employee wellbeing. PulseAgent helps decide what to do next.”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6172200"/>
            <a:ext cx="107259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64748B"/>
                </a:solidFill>
              </a:defRPr>
            </a:pPr>
            <a:r>
              <a:t>Tech Zephyr 4.0 | IIT Bhubaneswar    •    PeoplePulse × PulseAgent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