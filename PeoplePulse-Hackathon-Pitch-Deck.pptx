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with the hook line; pause to let it land before speaking.
- Introduce PeoplePulse in one sentence as a daily signal system for teams.
- Gesture to the floating dashboard on the right as a preview of the product.
- Transition: "let’s start with the problem this exists to solve."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Describe the silent escalation — small signals that compound for weeks before anyone notices.
- Emphasise that HR always arrives at the end of the timeline, after damage is already done.
- Introduce PeoplePulse’s shift from reaction to signal-first.
- Transition: "let’s look at who actually feels this problem every 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through each role briefly: Employee, Manager, HR.
- Emphasise each role gets a different lens on the same underlying signal.
- PeoplePulse sits in the middle — it does not replace any of them.
- Transition: "and the way it sits in the middle is a continuous loop."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Introduce the product loop — five stages that repeat every day.
- Emphasise the 60-second daily rhythm: tiny effort in, real signal out.
- The loop closes itself: ACTION generates new check-ins, continuously.
- Preview that the next slide breaks the loop into four concrete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audience through the 60-second flow — check-in, capture, dashboard, action.
- Emphasise the manager gets a pre-digested action, not raw data.
- The PulseAgent layer is what turns trend data into 1:1 talking points.
- Preview that the next slide shows the real product in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Every panel below is live in the app at peoplepulse-app.vercel.app — not mockups, not fake UI.
- Walk the Engagement Index (78 / +6) and the Manager Dashboard (check-in rate, sentiment, stress, alerts).
- Land on the PulseAgent insight card bottom-right: real AI output from real signals.
- Transition: "Now let me show you the wow moment — how thousands of check-ins become one clear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wow is reduction, not addition — we show less, with more meaning.
- Raw daily check-ins roll up into 4 signals (sentiment, engagement, stress, trend).
- PulseAgent then writes one human-readable sentence any manager can act on.
- The 3 action pills prove this is an action loop, not another dashboard.
- This is what makes PeoplePulse useful vs. every other survey tool on the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Traditional surveys are quarterly, low completion, and reactive — too late to act.
- PeoplePulse replaces that with a 60-second daily rhythm and a continuous signal.
- Real-time visibility means managers see trends, not stale snapshots.
- PulseAgent closes the loop autonomously — that's the actual innovation.
- Why this needs to exist: the rhythm is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top-down through the 6-layer architecture: employee, web app, backend, database, PulseAgent, manager dashboard.
- Layer 5 is the AI layer — PulseAgent tags sentiment, computes the engagement index, and diagnoses the cause.
- Right panel is the actual stack: React/Vite/Tailwind, Node.js serverless, Supabase, JWT, PulseAgent, Realtime, Vercel.
- Emphasise the stack is intentionally lean and production-grade — no resume padding.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Every capability in the 3x3 grid is implemented and running in production today.
- The engagement index is deterministic — computed from workload, manager support, collaboration, motivation, and stress balance, not vibes.
- Slack delivery has autonomous failover to an email queue — no integration goes silent.
- The bottom strip is the live data path: check-in → Supabase → index → sentiment → team aggregate (n≥3 enforced) → dashboard → PulseAgent action.
- "n≥3" with a lock icon quietly reinforces the privacy-by-aggregation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Make this the strongest slide of the deck — privacy is engineered, not policy.
 • Names are detached before the database; anonymous data cannot be deanonymized in DB or logs.
 • Explain the n≥3 aggregation rule: comments stay locked below the threshold, only team-level patterns unlock.
 • One 60-second pulse per day — no keystrokes, location, or behaviour tracking, ever.
 • Tie privacy back to psychological safety: people answer honestly only when they trust the system cannot expose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through the four impact areas: earlier signals, better 1:1s, data-driven HR, healthier teams.
 • Emphasise impact is structural, not statistical — we don’t quote fake numbers.
 • The flow strip shows how signal moves from employee → manager → HR → organization safely.
 • PulseAgent drafts 3 talking points per check-in — that’s the manager leverage point.
 • Close on: the individual is never exposed while the organization gets the signal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architecture already scales from one team to multi-tenant SaaS without rethinking the data model.
 • The n≥3 privacy rule generalises upward — team, department, org, multi-org all stay privacy-safe.
 • Stage 1 (one team) is live today; stages 2-4 are designed but not yet shipped.
 • Future integrations are clearly labelled as roadmap — no false claims of shipping them.
 • HRMS, Slack/Teams, payroll, performance, mobile, advanced analytics are the obvious next plugs.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left-to-right: NOW (live) → NEXT (0–3 months, designed) → FUTURE (3–12 months, horizon).
 • NOW card uses green border to signal shipping; NEXT uses accent blue; FUTURE uses dashed accent-light.
 • Close on predictive engagement signals + AI recommendations as the long-term bet.
 • Be explicit: future items are visually labelled as future, not yet in the build.
 • Live URL is peoplepulse-app.vercel.app — invite judges to try it after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Close on the headline: “Don’t wait for people problems to become business problems.”
 • Deliver the three verbs in sequence — listen earlier, understand better, act sooner.
 • Thank the judges; the deck has walked through hook, problem, product, pulse, agent, dashboard, demo, market, privacy, impact, scalability, roadmap.
 • Invite judges to try the live URL: peoplepulse-app.vercel.app.
 • Apurv Gaurav Prasad, single builder — peoplepulse-app.vercel.app, GitHub, Portfolio chips, QR for quick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-428625" y="-428625"/>
            <a:ext cx="1714500" cy="1714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428625" y="-428625"/>
            <a:ext cx="1714500" cy="1714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7858125" y="3857625"/>
            <a:ext cx="1714500" cy="1714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58125" y="3857625"/>
            <a:ext cx="1714500" cy="1714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0050"/>
            <a:ext cx="157163" cy="15716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400050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4E6ABF"/>
          </a:solidFill>
          <a:ln/>
          <a:effectLst>
            <a:outerShdw sx="100000" sy="100000" kx="0" ky="0" algn="bl" rotWithShape="0" blurRad="101600" dist="50800" dir="16200000">
              <a:srgbClr val="4E6ABF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685800" y="403622"/>
            <a:ext cx="7825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16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</a:t>
            </a:r>
            <a:endParaRPr lang="en-US" sz="800" dirty="0"/>
          </a:p>
        </p:txBody>
      </p:sp>
      <p:sp>
        <p:nvSpPr>
          <p:cNvPr id="9" name="Text 4"/>
          <p:cNvSpPr/>
          <p:nvPr/>
        </p:nvSpPr>
        <p:spPr>
          <a:xfrm>
            <a:off x="457200" y="892969"/>
            <a:ext cx="4337707" cy="1858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44"/>
              </a:lnSpc>
              <a:buNone/>
            </a:pPr>
            <a:r>
              <a:rPr lang="en-US" sz="3375" b="1" spc="-8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Most workplace problems don’t start as big problems.</a:t>
            </a:r>
            <a:endParaRPr lang="en-US" sz="3375" dirty="0"/>
          </a:p>
        </p:txBody>
      </p:sp>
      <p:sp>
        <p:nvSpPr>
          <p:cNvPr id="10" name="Text 5"/>
          <p:cNvSpPr/>
          <p:nvPr/>
        </p:nvSpPr>
        <p:spPr>
          <a:xfrm>
            <a:off x="457200" y="2778919"/>
            <a:ext cx="4684724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spc="-25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They start as small signals.</a:t>
            </a:r>
            <a:endParaRPr lang="en-US" sz="1688" dirty="0"/>
          </a:p>
        </p:txBody>
      </p:sp>
      <p:sp>
        <p:nvSpPr>
          <p:cNvPr id="11" name="Text 6"/>
          <p:cNvSpPr/>
          <p:nvPr/>
        </p:nvSpPr>
        <p:spPr>
          <a:xfrm>
            <a:off x="457200" y="3171825"/>
            <a:ext cx="3286125" cy="7144"/>
          </a:xfrm>
          <a:prstGeom prst="rect">
            <a:avLst/>
          </a:prstGeom>
          <a:solidFill>
            <a:srgbClr val="E6E7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457200" y="3278981"/>
            <a:ext cx="52972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39" kern="0" dirty="0">
                <a:solidFill>
                  <a:srgbClr val="4E6A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457200" y="3486150"/>
            <a:ext cx="3714750" cy="39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3"/>
              </a:lnSpc>
              <a:buNone/>
            </a:pPr>
            <a:r>
              <a:rPr lang="en-US" sz="1069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Understand how your people are feeling. Before it becomes a bigger problem.</a:t>
            </a:r>
            <a:endParaRPr lang="en-US" sz="1069" dirty="0"/>
          </a:p>
        </p:txBody>
      </p:sp>
      <p:sp>
        <p:nvSpPr>
          <p:cNvPr id="14" name="Text 9"/>
          <p:cNvSpPr/>
          <p:nvPr/>
        </p:nvSpPr>
        <p:spPr>
          <a:xfrm>
            <a:off x="457200" y="3968276"/>
            <a:ext cx="1427522" cy="239916"/>
          </a:xfrm>
          <a:prstGeom prst="roundRect">
            <a:avLst>
              <a:gd name="adj" fmla="val 3966169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57200" y="3981078"/>
            <a:ext cx="14275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0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 ENGAGEMENT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1970447" y="3968276"/>
            <a:ext cx="751098" cy="239916"/>
          </a:xfrm>
          <a:prstGeom prst="roundRect">
            <a:avLst>
              <a:gd name="adj" fmla="val 3966169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1970447" y="3981078"/>
            <a:ext cx="7510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0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SENTIMENT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2807271" y="3968276"/>
            <a:ext cx="1137196" cy="239916"/>
          </a:xfrm>
          <a:prstGeom prst="roundRect">
            <a:avLst>
              <a:gd name="adj" fmla="val 3966169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2807271" y="3981078"/>
            <a:ext cx="11371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0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 ANALYTICS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 rot="180000">
            <a:off x="5220742" y="1067970"/>
            <a:ext cx="3513727" cy="3243324"/>
          </a:xfrm>
          <a:prstGeom prst="roundRect">
            <a:avLst>
              <a:gd name="adj" fmla="val 6461"/>
            </a:avLst>
          </a:prstGeom>
          <a:solidFill>
            <a:srgbClr val="EAF0FF">
              <a:alpha val="55000"/>
            </a:srgbClr>
          </a:solidFill>
          <a:ln/>
          <a:effectLst>
            <a:outerShdw sx="100000" sy="100000" kx="0" ky="0" algn="bl" rotWithShape="0" blurRad="152400" dist="38100" dir="5400000">
              <a:srgbClr val="1F2A28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201320" y="1003697"/>
            <a:ext cx="3421856" cy="3136106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381000" dist="171450" dir="5400000">
              <a:srgbClr val="1F2A28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054" y="1196578"/>
            <a:ext cx="100013" cy="10001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62054" y="1196578"/>
            <a:ext cx="100013" cy="100013"/>
          </a:xfrm>
          <a:prstGeom prst="roundRect">
            <a:avLst>
              <a:gd name="adj" fmla="val 9514238"/>
            </a:avLst>
          </a:prstGeom>
          <a:solidFill>
            <a:srgbClr val="4E6ABF"/>
          </a:solidFill>
          <a:ln/>
          <a:effectLst>
            <a:outerShdw sx="100000" sy="100000" kx="0" ky="0" algn="bl" rotWithShape="0" blurRad="101600" dist="50800" dir="16200000">
              <a:srgbClr val="4E6ABF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5524208" y="1176933"/>
            <a:ext cx="7452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-15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8060668" y="1154573"/>
            <a:ext cx="417226" cy="184023"/>
          </a:xfrm>
          <a:prstGeom prst="roundRect">
            <a:avLst>
              <a:gd name="adj" fmla="val 5170807"/>
            </a:avLst>
          </a:prstGeom>
          <a:solidFill>
            <a:srgbClr val="EAF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8133271" y="1225153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8076121" y="1164431"/>
            <a:ext cx="38632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F7A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5365626" y="1418034"/>
            <a:ext cx="3093244" cy="1396603"/>
          </a:xfrm>
          <a:prstGeom prst="roundRect">
            <a:avLst>
              <a:gd name="adj" fmla="val 9548"/>
            </a:avLst>
          </a:prstGeom>
          <a:solidFill>
            <a:srgbClr val="FAFAFA"/>
          </a:solidFill>
          <a:ln w="7144">
            <a:solidFill>
              <a:srgbClr val="E1E4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5483498" y="1521619"/>
            <a:ext cx="1094532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INDEX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5483498" y="1643063"/>
            <a:ext cx="1442323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A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78</a:t>
            </a:r>
            <a:endParaRPr lang="en-US" sz="3600" dirty="0"/>
          </a:p>
        </p:txBody>
      </p:sp>
      <p:sp>
        <p:nvSpPr>
          <p:cNvPr id="31" name="Text 25"/>
          <p:cNvSpPr/>
          <p:nvPr/>
        </p:nvSpPr>
        <p:spPr>
          <a:xfrm>
            <a:off x="7586127" y="1910953"/>
            <a:ext cx="777731" cy="200025"/>
          </a:xfrm>
          <a:prstGeom prst="roundRect">
            <a:avLst>
              <a:gd name="adj" fmla="val 4757143"/>
            </a:avLst>
          </a:prstGeom>
          <a:solidFill>
            <a:srgbClr val="EAF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7562181" y="1921669"/>
            <a:ext cx="82562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7" kern="0" dirty="0">
                <a:solidFill>
                  <a:srgbClr val="3F7A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+6 THIS WEEK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5497785" y="2417490"/>
            <a:ext cx="200025" cy="154260"/>
          </a:xfrm>
          <a:prstGeom prst="roundRect">
            <a:avLst>
              <a:gd name="adj" fmla="val 24699"/>
            </a:avLst>
          </a:prstGeom>
          <a:solidFill>
            <a:srgbClr val="6A8B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5769248" y="2359670"/>
            <a:ext cx="200025" cy="212080"/>
          </a:xfrm>
          <a:prstGeom prst="roundRect">
            <a:avLst>
              <a:gd name="adj" fmla="val 19048"/>
            </a:avLst>
          </a:prstGeom>
          <a:solidFill>
            <a:srgbClr val="6A8B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6040710" y="2378869"/>
            <a:ext cx="200025" cy="192881"/>
          </a:xfrm>
          <a:prstGeom prst="roundRect">
            <a:avLst>
              <a:gd name="adj" fmla="val 19753"/>
            </a:avLst>
          </a:prstGeom>
          <a:solidFill>
            <a:srgbClr val="6A8B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6312173" y="2301739"/>
            <a:ext cx="200025" cy="270011"/>
          </a:xfrm>
          <a:prstGeom prst="roundRect">
            <a:avLst>
              <a:gd name="adj" fmla="val 19048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6583635" y="2270931"/>
            <a:ext cx="200025" cy="300819"/>
          </a:xfrm>
          <a:prstGeom prst="roundRect">
            <a:avLst>
              <a:gd name="adj" fmla="val 19048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5497785" y="2614613"/>
            <a:ext cx="66548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0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W1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6177558" y="2614613"/>
            <a:ext cx="66559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0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W2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6857442" y="2614613"/>
            <a:ext cx="66548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0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W3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7537214" y="2614613"/>
            <a:ext cx="66548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0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W4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8209909" y="2614613"/>
            <a:ext cx="13816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spc="20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W5</a:t>
            </a:r>
            <a:endParaRPr lang="en-US" sz="600" dirty="0"/>
          </a:p>
        </p:txBody>
      </p:sp>
      <p:sp>
        <p:nvSpPr>
          <p:cNvPr id="43" name="Text 37"/>
          <p:cNvSpPr/>
          <p:nvPr/>
        </p:nvSpPr>
        <p:spPr>
          <a:xfrm>
            <a:off x="5365626" y="2907506"/>
            <a:ext cx="969094" cy="407194"/>
          </a:xfrm>
          <a:prstGeom prst="roundRect">
            <a:avLst>
              <a:gd name="adj" fmla="val 28070"/>
            </a:avLst>
          </a:prstGeom>
          <a:solidFill>
            <a:srgbClr val="FAFAFA"/>
          </a:solidFill>
          <a:ln w="7144">
            <a:solidFill>
              <a:srgbClr val="E1E4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5454923" y="2982516"/>
            <a:ext cx="790501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CHECK-IN RATE</a:t>
            </a:r>
            <a:endParaRPr lang="en-US" sz="600" dirty="0"/>
          </a:p>
        </p:txBody>
      </p:sp>
      <p:sp>
        <p:nvSpPr>
          <p:cNvPr id="45" name="Text 39"/>
          <p:cNvSpPr/>
          <p:nvPr/>
        </p:nvSpPr>
        <p:spPr>
          <a:xfrm>
            <a:off x="5454923" y="3118247"/>
            <a:ext cx="79050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956" b="1" dirty="0">
                <a:solidFill>
                  <a:srgbClr val="1F2A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92%</a:t>
            </a:r>
            <a:endParaRPr lang="en-US" sz="956" dirty="0"/>
          </a:p>
        </p:txBody>
      </p:sp>
      <p:sp>
        <p:nvSpPr>
          <p:cNvPr id="46" name="Text 40"/>
          <p:cNvSpPr/>
          <p:nvPr/>
        </p:nvSpPr>
        <p:spPr>
          <a:xfrm>
            <a:off x="6427589" y="2907506"/>
            <a:ext cx="969206" cy="407194"/>
          </a:xfrm>
          <a:prstGeom prst="roundRect">
            <a:avLst>
              <a:gd name="adj" fmla="val 28070"/>
            </a:avLst>
          </a:prstGeom>
          <a:solidFill>
            <a:srgbClr val="FAFAFA"/>
          </a:solidFill>
          <a:ln w="7144">
            <a:solidFill>
              <a:srgbClr val="E1E4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6516886" y="2982516"/>
            <a:ext cx="790612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SENTIMENT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6516886" y="3118247"/>
            <a:ext cx="79061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956" b="1" dirty="0">
                <a:solidFill>
                  <a:srgbClr val="3F7A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Positive</a:t>
            </a:r>
            <a:endParaRPr lang="en-US" sz="956" dirty="0"/>
          </a:p>
        </p:txBody>
      </p:sp>
      <p:sp>
        <p:nvSpPr>
          <p:cNvPr id="49" name="Text 43"/>
          <p:cNvSpPr/>
          <p:nvPr/>
        </p:nvSpPr>
        <p:spPr>
          <a:xfrm>
            <a:off x="7489664" y="2907506"/>
            <a:ext cx="969206" cy="407194"/>
          </a:xfrm>
          <a:prstGeom prst="roundRect">
            <a:avLst>
              <a:gd name="adj" fmla="val 28070"/>
            </a:avLst>
          </a:prstGeom>
          <a:solidFill>
            <a:srgbClr val="FAFAFA"/>
          </a:solidFill>
          <a:ln w="7144">
            <a:solidFill>
              <a:srgbClr val="E1E4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7578961" y="2982516"/>
            <a:ext cx="790612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STRESS</a:t>
            </a:r>
            <a:endParaRPr lang="en-US" sz="800" dirty="0"/>
          </a:p>
        </p:txBody>
      </p:sp>
      <p:sp>
        <p:nvSpPr>
          <p:cNvPr id="51" name="Text 45"/>
          <p:cNvSpPr/>
          <p:nvPr/>
        </p:nvSpPr>
        <p:spPr>
          <a:xfrm>
            <a:off x="7578961" y="3118247"/>
            <a:ext cx="79061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956" b="1" dirty="0">
                <a:solidFill>
                  <a:srgbClr val="3F7A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</a:t>
            </a:r>
            <a:endParaRPr lang="en-US" sz="956" dirty="0"/>
          </a:p>
        </p:txBody>
      </p:sp>
      <p:sp>
        <p:nvSpPr>
          <p:cNvPr id="52" name="Text 46"/>
          <p:cNvSpPr/>
          <p:nvPr/>
        </p:nvSpPr>
        <p:spPr>
          <a:xfrm>
            <a:off x="5362054" y="3403997"/>
            <a:ext cx="3100388" cy="381074"/>
          </a:xfrm>
          <a:prstGeom prst="roundRect">
            <a:avLst>
              <a:gd name="adj" fmla="val 29994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7"/>
          <p:cNvSpPr/>
          <p:nvPr/>
        </p:nvSpPr>
        <p:spPr>
          <a:xfrm>
            <a:off x="5447779" y="348257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54" name="Text 48"/>
          <p:cNvSpPr/>
          <p:nvPr/>
        </p:nvSpPr>
        <p:spPr>
          <a:xfrm>
            <a:off x="5619229" y="3475434"/>
            <a:ext cx="2757488" cy="238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improved this week, with the biggest improvement coming from workload balance and team collaboration.</a:t>
            </a:r>
            <a:endParaRPr lang="en-US" sz="800" dirty="0"/>
          </a:p>
        </p:txBody>
      </p:sp>
      <p:sp>
        <p:nvSpPr>
          <p:cNvPr id="55" name="Text 49"/>
          <p:cNvSpPr/>
          <p:nvPr/>
        </p:nvSpPr>
        <p:spPr>
          <a:xfrm>
            <a:off x="457200" y="4825603"/>
            <a:ext cx="2312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2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Hackathon Pitch · 2025 · Built by Apurv Gaurav Prasad</a:t>
            </a:r>
            <a:endParaRPr lang="en-US" sz="61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PROBLEM · 01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28650"/>
            <a:ext cx="8636000" cy="81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spc="-5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 usually finds out when it’s already too late.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482998"/>
            <a:ext cx="51435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Small signals get missed for weeks. By the time anyone reacts, performance, trust, and people have already walked out the door.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460772" y="2086645"/>
            <a:ext cx="1450181" cy="569937"/>
          </a:xfrm>
          <a:prstGeom prst="roundRect">
            <a:avLst>
              <a:gd name="adj" fmla="val 20055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4356" y="2200945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4356" y="2175942"/>
            <a:ext cx="124301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4356" y="2325960"/>
            <a:ext cx="1243013" cy="241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 feels stressed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57388" y="230017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2146697" y="2103723"/>
            <a:ext cx="1450181" cy="535781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50281" y="2218023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50281" y="2193020"/>
            <a:ext cx="124301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50281" y="2343038"/>
            <a:ext cx="1243013" cy="142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 disengages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43313" y="230017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3832622" y="2103723"/>
            <a:ext cx="1450181" cy="535781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36206" y="2218023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36206" y="2193020"/>
            <a:ext cx="124301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6206" y="2343038"/>
            <a:ext cx="1243013" cy="142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31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 doesn’t notice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5329238" y="230017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5514975" y="2100151"/>
            <a:ext cx="1471613" cy="542925"/>
          </a:xfrm>
          <a:prstGeom prst="roundRect">
            <a:avLst>
              <a:gd name="adj" fmla="val 21053"/>
            </a:avLst>
          </a:prstGeom>
          <a:solidFill>
            <a:srgbClr val="FFF6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514975" y="2103723"/>
            <a:ext cx="1471613" cy="0"/>
          </a:xfrm>
          <a:prstGeom prst="line">
            <a:avLst/>
          </a:prstGeom>
          <a:noFill/>
          <a:ln w="7144">
            <a:solidFill>
              <a:srgbClr val="E6E7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83016" y="2100151"/>
            <a:ext cx="0" cy="542925"/>
          </a:xfrm>
          <a:prstGeom prst="line">
            <a:avLst/>
          </a:prstGeom>
          <a:noFill/>
          <a:ln w="7144">
            <a:solidFill>
              <a:srgbClr val="E6E7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14975" y="2639504"/>
            <a:ext cx="1471613" cy="0"/>
          </a:xfrm>
          <a:prstGeom prst="line">
            <a:avLst/>
          </a:prstGeom>
          <a:noFill/>
          <a:ln w="7144">
            <a:solidFill>
              <a:srgbClr val="E6E7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25691" y="2100151"/>
            <a:ext cx="0" cy="542925"/>
          </a:xfrm>
          <a:prstGeom prst="line">
            <a:avLst/>
          </a:prstGeom>
          <a:noFill/>
          <a:ln w="21431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36419" y="2218023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36419" y="2193020"/>
            <a:ext cx="1243012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36419" y="2343038"/>
            <a:ext cx="1243013" cy="142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drops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29450" y="230017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C26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29" name="Text 27"/>
          <p:cNvSpPr/>
          <p:nvPr/>
        </p:nvSpPr>
        <p:spPr>
          <a:xfrm>
            <a:off x="7215188" y="2100151"/>
            <a:ext cx="1471613" cy="542925"/>
          </a:xfrm>
          <a:prstGeom prst="roundRect">
            <a:avLst>
              <a:gd name="adj" fmla="val 21053"/>
            </a:avLst>
          </a:prstGeom>
          <a:solidFill>
            <a:srgbClr val="FEEC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7215188" y="2103723"/>
            <a:ext cx="1471613" cy="0"/>
          </a:xfrm>
          <a:prstGeom prst="line">
            <a:avLst/>
          </a:prstGeom>
          <a:noFill/>
          <a:ln w="7144">
            <a:solidFill>
              <a:srgbClr val="E6E7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3228" y="2100151"/>
            <a:ext cx="0" cy="542925"/>
          </a:xfrm>
          <a:prstGeom prst="line">
            <a:avLst/>
          </a:prstGeom>
          <a:noFill/>
          <a:ln w="7144">
            <a:solidFill>
              <a:srgbClr val="E6E7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15188" y="2639504"/>
            <a:ext cx="1471613" cy="0"/>
          </a:xfrm>
          <a:prstGeom prst="line">
            <a:avLst/>
          </a:prstGeom>
          <a:noFill/>
          <a:ln w="7144">
            <a:solidFill>
              <a:srgbClr val="E6E7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5903" y="2100151"/>
            <a:ext cx="0" cy="542925"/>
          </a:xfrm>
          <a:prstGeom prst="line">
            <a:avLst/>
          </a:prstGeom>
          <a:noFill/>
          <a:ln w="21431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36631" y="2218023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336631" y="2193020"/>
            <a:ext cx="1243012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DC262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36631" y="2343038"/>
            <a:ext cx="1243012" cy="142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 reacts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2788741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signal was always there. It just arrived at the wrong end of the timeline.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2222" y="3117354"/>
            <a:ext cx="3850481" cy="1300163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150519" y="326380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0" name="Text 38"/>
          <p:cNvSpPr/>
          <p:nvPr/>
        </p:nvSpPr>
        <p:spPr>
          <a:xfrm>
            <a:off x="784384" y="3279574"/>
            <a:ext cx="895380" cy="239916"/>
          </a:xfrm>
          <a:prstGeom prst="roundRect">
            <a:avLst>
              <a:gd name="adj" fmla="val 3966169"/>
            </a:avLst>
          </a:prstGeom>
          <a:solidFill>
            <a:srgbClr val="EE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05476" y="3292376"/>
            <a:ext cx="8531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0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TRADITIONAL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7244" y="3592413"/>
            <a:ext cx="3500438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spc="-13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 → Reaction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07244" y="3921026"/>
            <a:ext cx="350043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Surveys run once a quarter. Insights land weeks later. HR only sees the damage after the fact.</a:t>
            </a:r>
            <a:endParaRPr lang="en-US" sz="844" dirty="0"/>
          </a:p>
        </p:txBody>
      </p:sp>
      <p:sp>
        <p:nvSpPr>
          <p:cNvPr id="44" name="Text 42"/>
          <p:cNvSpPr/>
          <p:nvPr/>
        </p:nvSpPr>
        <p:spPr>
          <a:xfrm>
            <a:off x="4661297" y="3117354"/>
            <a:ext cx="3850481" cy="1300163"/>
          </a:xfrm>
          <a:prstGeom prst="roundRect">
            <a:avLst>
              <a:gd name="adj" fmla="val 13187"/>
            </a:avLst>
          </a:prstGeom>
          <a:solidFill>
            <a:srgbClr val="EEF1FA"/>
          </a:solidFill>
          <a:ln w="7144">
            <a:solidFill>
              <a:srgbClr val="4E6ABF"/>
            </a:solidFill>
            <a:prstDash val="solid"/>
          </a:ln>
          <a:effectLst>
            <a:outerShdw sx="100000" sy="100000" kx="0" ky="0" algn="bl" rotWithShape="0" blurRad="381000" dist="171450" dir="5400000">
              <a:srgbClr val="4E6ABF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179594" y="326380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688" dirty="0"/>
          </a:p>
        </p:txBody>
      </p:sp>
      <p:sp>
        <p:nvSpPr>
          <p:cNvPr id="46" name="Text 44"/>
          <p:cNvSpPr/>
          <p:nvPr/>
        </p:nvSpPr>
        <p:spPr>
          <a:xfrm>
            <a:off x="4813459" y="3279574"/>
            <a:ext cx="923173" cy="239916"/>
          </a:xfrm>
          <a:prstGeom prst="roundRect">
            <a:avLst>
              <a:gd name="adj" fmla="val 3966169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36319" y="3292376"/>
            <a:ext cx="8774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0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36319" y="3592413"/>
            <a:ext cx="3500438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spc="-13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Signal → Insight → Action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4836319" y="3921026"/>
            <a:ext cx="350043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Lightweight daily check-ins surface trends in real time, so managers act while the signal is still small.</a:t>
            </a:r>
            <a:endParaRPr lang="en-US" sz="844" dirty="0"/>
          </a:p>
        </p:txBody>
      </p:sp>
      <p:sp>
        <p:nvSpPr>
          <p:cNvPr id="50" name="Text 48"/>
          <p:cNvSpPr/>
          <p:nvPr/>
        </p:nvSpPr>
        <p:spPr>
          <a:xfrm>
            <a:off x="4743450" y="4521101"/>
            <a:ext cx="42588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MOVES THE SIGNAL TO THE BEGINNING.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7200" y="4857750"/>
            <a:ext cx="7889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· HACKATHON PITCH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361118" y="48577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WHO HAS THIS PROBLEM · 02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14363"/>
            <a:ext cx="8636000" cy="433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9"/>
              </a:lnSpc>
              <a:buNone/>
            </a:pPr>
            <a:r>
              <a:rPr lang="en-US" sz="2925" b="1" spc="-58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Who is PeoplePulse for?</a:t>
            </a:r>
            <a:endParaRPr lang="en-US" sz="2925" dirty="0"/>
          </a:p>
        </p:txBody>
      </p:sp>
      <p:sp>
        <p:nvSpPr>
          <p:cNvPr id="4" name="Text 2"/>
          <p:cNvSpPr/>
          <p:nvPr/>
        </p:nvSpPr>
        <p:spPr>
          <a:xfrm>
            <a:off x="457200" y="1101254"/>
            <a:ext cx="5286375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roles. Three different pains. One shared signal.</a:t>
            </a:r>
            <a:endParaRPr lang="en-US" sz="956" dirty="0"/>
          </a:p>
        </p:txBody>
      </p:sp>
      <p:sp>
        <p:nvSpPr>
          <p:cNvPr id="5" name="Text 3"/>
          <p:cNvSpPr/>
          <p:nvPr/>
        </p:nvSpPr>
        <p:spPr>
          <a:xfrm>
            <a:off x="760809" y="1501304"/>
            <a:ext cx="2421731" cy="199310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52400" dist="38100" dir="5400000">
              <a:srgbClr val="1F2A28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0119" y="1690613"/>
            <a:ext cx="342900" cy="171450"/>
          </a:xfrm>
          <a:prstGeom prst="roundRect">
            <a:avLst>
              <a:gd name="adj" fmla="val 5550000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35844" y="16906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950119" y="1962076"/>
            <a:ext cx="2043113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spc="-13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50119" y="2276401"/>
            <a:ext cx="2043113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i="1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“I need a simple way to share how I’m feeling.”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927259" y="2665092"/>
            <a:ext cx="1196757" cy="212027"/>
          </a:xfrm>
          <a:prstGeom prst="roundRect">
            <a:avLst>
              <a:gd name="adj" fmla="val 4487860"/>
            </a:avLst>
          </a:prstGeom>
          <a:solidFill>
            <a:srgbClr val="EE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50119" y="2676451"/>
            <a:ext cx="115103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60-SECOND CHECK-IN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27259" y="2911551"/>
            <a:ext cx="1187604" cy="212027"/>
          </a:xfrm>
          <a:prstGeom prst="roundRect">
            <a:avLst>
              <a:gd name="adj" fmla="val 4487860"/>
            </a:avLst>
          </a:prstGeom>
          <a:solidFill>
            <a:srgbClr val="EE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50119" y="2922910"/>
            <a:ext cx="11418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ANONYMOUS OPTION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27259" y="3158011"/>
            <a:ext cx="1107571" cy="212027"/>
          </a:xfrm>
          <a:prstGeom prst="roundRect">
            <a:avLst>
              <a:gd name="adj" fmla="val 4487860"/>
            </a:avLst>
          </a:prstGeom>
          <a:solidFill>
            <a:srgbClr val="EE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50119" y="3169369"/>
            <a:ext cx="106185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MANAGER READ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61134" y="1501304"/>
            <a:ext cx="2421731" cy="199310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52400" dist="38100" dir="5400000">
              <a:srgbClr val="1F2A28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50444" y="1690613"/>
            <a:ext cx="342900" cy="342900"/>
          </a:xfrm>
          <a:prstGeom prst="roundRect">
            <a:avLst>
              <a:gd name="adj" fmla="val 2775000"/>
            </a:avLst>
          </a:prstGeom>
          <a:solidFill>
            <a:srgbClr val="EAF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97593" y="173776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3F7A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688" dirty="0"/>
          </a:p>
        </p:txBody>
      </p:sp>
      <p:sp>
        <p:nvSpPr>
          <p:cNvPr id="19" name="Text 17"/>
          <p:cNvSpPr/>
          <p:nvPr/>
        </p:nvSpPr>
        <p:spPr>
          <a:xfrm>
            <a:off x="3550444" y="2133526"/>
            <a:ext cx="2043113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spc="-13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550444" y="2447851"/>
            <a:ext cx="2043113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i="1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“I need visibility into my team’s health.”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3550444" y="2857973"/>
            <a:ext cx="806574" cy="212027"/>
          </a:xfrm>
          <a:prstGeom prst="roundRect">
            <a:avLst>
              <a:gd name="adj" fmla="val 4487860"/>
            </a:avLst>
          </a:prstGeom>
          <a:solidFill>
            <a:srgbClr val="EE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47514" y="2869332"/>
            <a:ext cx="8124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TRENDS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14168" y="2857973"/>
            <a:ext cx="1130052" cy="212027"/>
          </a:xfrm>
          <a:prstGeom prst="roundRect">
            <a:avLst>
              <a:gd name="adj" fmla="val 4487860"/>
            </a:avLst>
          </a:prstGeom>
          <a:solidFill>
            <a:srgbClr val="EE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414168" y="2869332"/>
            <a:ext cx="11300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SCORE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27584" y="3104433"/>
            <a:ext cx="1149095" cy="212027"/>
          </a:xfrm>
          <a:prstGeom prst="roundRect">
            <a:avLst>
              <a:gd name="adj" fmla="val 4487860"/>
            </a:avLst>
          </a:prstGeom>
          <a:solidFill>
            <a:srgbClr val="EE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50444" y="3115791"/>
            <a:ext cx="1103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1:1 TALKING POINTS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61459" y="1501304"/>
            <a:ext cx="2421731" cy="199310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52400" dist="38100" dir="5400000">
              <a:srgbClr val="1F2A28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50769" y="1690613"/>
            <a:ext cx="342900" cy="171450"/>
          </a:xfrm>
          <a:prstGeom prst="roundRect">
            <a:avLst>
              <a:gd name="adj" fmla="val 5550000"/>
            </a:avLst>
          </a:prstGeom>
          <a:solidFill>
            <a:srgbClr val="FFF6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36494" y="16906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30" name="Text 28"/>
          <p:cNvSpPr/>
          <p:nvPr/>
        </p:nvSpPr>
        <p:spPr>
          <a:xfrm>
            <a:off x="6150769" y="1962076"/>
            <a:ext cx="2043112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spc="-13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150769" y="2276401"/>
            <a:ext cx="2043113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i="1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“I need meaningful signals to act earlier.”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6127909" y="2665092"/>
            <a:ext cx="997513" cy="212027"/>
          </a:xfrm>
          <a:prstGeom prst="roundRect">
            <a:avLst>
              <a:gd name="adj" fmla="val 4487860"/>
            </a:avLst>
          </a:prstGeom>
          <a:solidFill>
            <a:srgbClr val="EE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50769" y="2676451"/>
            <a:ext cx="95179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ORG-WIDE PULSE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27909" y="2911551"/>
            <a:ext cx="1207249" cy="212027"/>
          </a:xfrm>
          <a:prstGeom prst="roundRect">
            <a:avLst>
              <a:gd name="adj" fmla="val 4487860"/>
            </a:avLst>
          </a:prstGeom>
          <a:solidFill>
            <a:srgbClr val="EE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50769" y="2922910"/>
            <a:ext cx="116152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SENTIMENT ANALYSIS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27909" y="3158011"/>
            <a:ext cx="1499473" cy="212027"/>
          </a:xfrm>
          <a:prstGeom prst="roundRect">
            <a:avLst>
              <a:gd name="adj" fmla="val 4487860"/>
            </a:avLst>
          </a:prstGeom>
          <a:solidFill>
            <a:srgbClr val="EE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50769" y="3169369"/>
            <a:ext cx="14537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PRIVACY-SAFE AGGREGATES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0" y="3755157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SHARED SIGNAL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217487" y="4010246"/>
            <a:ext cx="1050980" cy="332784"/>
          </a:xfrm>
          <a:prstGeom prst="roundRect">
            <a:avLst>
              <a:gd name="adj" fmla="val 2859355"/>
            </a:avLst>
          </a:prstGeom>
          <a:solidFill>
            <a:srgbClr val="EAF0FF"/>
          </a:solidFill>
          <a:ln w="7144">
            <a:solidFill>
              <a:srgbClr val="4E6A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561816" y="4115916"/>
            <a:ext cx="74094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376078" y="41123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266" dirty="0"/>
          </a:p>
        </p:txBody>
      </p:sp>
      <p:sp>
        <p:nvSpPr>
          <p:cNvPr id="42" name="Text 40"/>
          <p:cNvSpPr/>
          <p:nvPr/>
        </p:nvSpPr>
        <p:spPr>
          <a:xfrm>
            <a:off x="3359907" y="409805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43" name="Text 41"/>
          <p:cNvSpPr/>
          <p:nvPr/>
        </p:nvSpPr>
        <p:spPr>
          <a:xfrm>
            <a:off x="3634941" y="3987329"/>
            <a:ext cx="1295474" cy="378619"/>
          </a:xfrm>
          <a:prstGeom prst="roundRect">
            <a:avLst>
              <a:gd name="adj" fmla="val 2513206"/>
            </a:avLst>
          </a:prstGeom>
          <a:solidFill>
            <a:srgbClr val="344A91"/>
          </a:solidFill>
          <a:ln w="7144">
            <a:solidFill>
              <a:srgbClr val="344A9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631369" y="3983757"/>
            <a:ext cx="1359768" cy="385763"/>
          </a:xfrm>
          <a:prstGeom prst="rect">
            <a:avLst/>
          </a:prstGeom>
          <a:noFill/>
          <a:ln/>
        </p:spPr>
        <p:txBody>
          <a:bodyPr wrap="none" lIns="171450" tIns="100013" rIns="171450" bIns="100013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7F7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48287" y="409805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46" name="Text 44"/>
          <p:cNvSpPr/>
          <p:nvPr/>
        </p:nvSpPr>
        <p:spPr>
          <a:xfrm>
            <a:off x="5323322" y="4026619"/>
            <a:ext cx="1576760" cy="300038"/>
          </a:xfrm>
          <a:prstGeom prst="roundRect">
            <a:avLst>
              <a:gd name="adj" fmla="val 3171423"/>
            </a:avLst>
          </a:prstGeom>
          <a:noFill/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326893" y="4017390"/>
            <a:ext cx="923106" cy="318497"/>
          </a:xfrm>
          <a:prstGeom prst="rect">
            <a:avLst/>
          </a:prstGeom>
          <a:solidFill>
            <a:srgbClr val="EAF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626931" y="4115916"/>
            <a:ext cx="651644" cy="125403"/>
          </a:xfrm>
          <a:prstGeom prst="rect">
            <a:avLst/>
          </a:prstGeom>
          <a:noFill/>
          <a:ln/>
        </p:spPr>
        <p:txBody>
          <a:bodyPr wrap="none" lIns="128588" tIns="71438" rIns="128588" bIns="71438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F7A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55481" y="411948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F7A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6307150" y="4017390"/>
            <a:ext cx="589359" cy="318497"/>
          </a:xfrm>
          <a:prstGeom prst="rect">
            <a:avLst/>
          </a:prstGeom>
          <a:solidFill>
            <a:srgbClr val="FFF6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607187" y="4115916"/>
            <a:ext cx="289322" cy="125403"/>
          </a:xfrm>
          <a:prstGeom prst="rect">
            <a:avLst/>
          </a:prstGeom>
          <a:noFill/>
          <a:ln/>
        </p:spPr>
        <p:txBody>
          <a:bodyPr wrap="none" lIns="128588" tIns="71438" rIns="128588" bIns="71438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35737" y="411948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457200" y="4857750"/>
            <a:ext cx="7889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· HACKATHON PITCH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361118" y="48577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SOLUTION · 03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51460" y="642938"/>
            <a:ext cx="8636000" cy="47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spc="-79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Meet PeoplePulse.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643063" y="1182960"/>
            <a:ext cx="5857875" cy="447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turns simple daily check-ins into meaningful engagement, sentiment and team-health insights.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886620"/>
            <a:ext cx="1171575" cy="778669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32272" y="1990204"/>
            <a:ext cx="200025" cy="200025"/>
          </a:xfrm>
          <a:prstGeom prst="roundRect">
            <a:avLst>
              <a:gd name="adj" fmla="val 4757143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9417" y="200734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032272" y="2247379"/>
            <a:ext cx="935831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37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CHECK-IN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2272" y="2397398"/>
            <a:ext cx="935831" cy="14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647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Daily 60-second pulse</a:t>
            </a:r>
            <a:endParaRPr lang="en-US" sz="647" dirty="0"/>
          </a:p>
        </p:txBody>
      </p:sp>
      <p:sp>
        <p:nvSpPr>
          <p:cNvPr id="10" name="Text 8"/>
          <p:cNvSpPr/>
          <p:nvPr/>
        </p:nvSpPr>
        <p:spPr>
          <a:xfrm>
            <a:off x="2203847" y="24688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11" name="Shape 9"/>
          <p:cNvSpPr/>
          <p:nvPr/>
        </p:nvSpPr>
        <p:spPr>
          <a:xfrm>
            <a:off x="2175272" y="2633142"/>
            <a:ext cx="185738" cy="0"/>
          </a:xfrm>
          <a:prstGeom prst="line">
            <a:avLst/>
          </a:prstGeom>
          <a:noFill/>
          <a:ln w="14288">
            <a:solidFill>
              <a:srgbClr val="4E6AB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450306" y="1886620"/>
            <a:ext cx="1171575" cy="778669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68178" y="1990204"/>
            <a:ext cx="200025" cy="200025"/>
          </a:xfrm>
          <a:prstGeom prst="roundRect">
            <a:avLst>
              <a:gd name="adj" fmla="val 4757143"/>
            </a:avLst>
          </a:prstGeom>
          <a:solidFill>
            <a:srgbClr val="6A8B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85323" y="200734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2568178" y="2247379"/>
            <a:ext cx="935831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37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SENTIMENT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68178" y="2397398"/>
            <a:ext cx="935831" cy="14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647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tags the signal</a:t>
            </a:r>
            <a:endParaRPr lang="en-US" sz="647" dirty="0"/>
          </a:p>
        </p:txBody>
      </p:sp>
      <p:sp>
        <p:nvSpPr>
          <p:cNvPr id="17" name="Text 15"/>
          <p:cNvSpPr/>
          <p:nvPr/>
        </p:nvSpPr>
        <p:spPr>
          <a:xfrm>
            <a:off x="3739753" y="24688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18" name="Shape 16"/>
          <p:cNvSpPr/>
          <p:nvPr/>
        </p:nvSpPr>
        <p:spPr>
          <a:xfrm>
            <a:off x="3711178" y="2633142"/>
            <a:ext cx="185738" cy="0"/>
          </a:xfrm>
          <a:prstGeom prst="line">
            <a:avLst/>
          </a:prstGeom>
          <a:noFill/>
          <a:ln w="14288">
            <a:solidFill>
              <a:srgbClr val="4E6ABF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986213" y="1886620"/>
            <a:ext cx="1171575" cy="778669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04084" y="1990204"/>
            <a:ext cx="200025" cy="200025"/>
          </a:xfrm>
          <a:prstGeom prst="roundRect">
            <a:avLst>
              <a:gd name="adj" fmla="val 4757143"/>
            </a:avLst>
          </a:prstGeom>
          <a:solidFill>
            <a:srgbClr val="3F7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121229" y="200734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104084" y="2247379"/>
            <a:ext cx="935831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37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04084" y="2397398"/>
            <a:ext cx="935831" cy="14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647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Five-dimension index</a:t>
            </a:r>
            <a:endParaRPr lang="en-US" sz="647" dirty="0"/>
          </a:p>
        </p:txBody>
      </p:sp>
      <p:sp>
        <p:nvSpPr>
          <p:cNvPr id="24" name="Text 22"/>
          <p:cNvSpPr/>
          <p:nvPr/>
        </p:nvSpPr>
        <p:spPr>
          <a:xfrm>
            <a:off x="5275659" y="24688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5" name="Shape 23"/>
          <p:cNvSpPr/>
          <p:nvPr/>
        </p:nvSpPr>
        <p:spPr>
          <a:xfrm>
            <a:off x="5247084" y="2633142"/>
            <a:ext cx="185738" cy="0"/>
          </a:xfrm>
          <a:prstGeom prst="line">
            <a:avLst/>
          </a:prstGeom>
          <a:noFill/>
          <a:ln w="14288">
            <a:solidFill>
              <a:srgbClr val="4E6ABF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522119" y="1886620"/>
            <a:ext cx="1171575" cy="778669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639991" y="1990204"/>
            <a:ext cx="200025" cy="150912"/>
          </a:xfrm>
          <a:prstGeom prst="roundRect">
            <a:avLst>
              <a:gd name="adj" fmla="val 6305314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64547" y="1990204"/>
            <a:ext cx="150912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5639991" y="2198266"/>
            <a:ext cx="935831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37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HEALTH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39991" y="2348285"/>
            <a:ext cx="93583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Aggregated team trends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11566" y="24688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32" name="Shape 30"/>
          <p:cNvSpPr/>
          <p:nvPr/>
        </p:nvSpPr>
        <p:spPr>
          <a:xfrm>
            <a:off x="6782991" y="2633142"/>
            <a:ext cx="185738" cy="0"/>
          </a:xfrm>
          <a:prstGeom prst="line">
            <a:avLst/>
          </a:prstGeom>
          <a:noFill/>
          <a:ln w="14288">
            <a:solidFill>
              <a:srgbClr val="4E6AB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7058025" y="1886620"/>
            <a:ext cx="1171575" cy="778669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175897" y="1990204"/>
            <a:ext cx="200025" cy="150912"/>
          </a:xfrm>
          <a:prstGeom prst="roundRect">
            <a:avLst>
              <a:gd name="adj" fmla="val 6305314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200454" y="1990204"/>
            <a:ext cx="150912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7175897" y="2198266"/>
            <a:ext cx="935831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37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75897" y="2348285"/>
            <a:ext cx="93583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Manager 1:1 talking points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897416" y="2668860"/>
            <a:ext cx="0" cy="428625"/>
          </a:xfrm>
          <a:prstGeom prst="line">
            <a:avLst/>
          </a:prstGeom>
          <a:noFill/>
          <a:ln w="7144">
            <a:solidFill>
              <a:srgbClr val="4E6ABF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243013" y="3093913"/>
            <a:ext cx="6657975" cy="0"/>
          </a:xfrm>
          <a:prstGeom prst="line">
            <a:avLst/>
          </a:prstGeom>
          <a:noFill/>
          <a:ln w="7144">
            <a:solidFill>
              <a:srgbClr val="4E6ABF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246584" y="2668860"/>
            <a:ext cx="0" cy="428625"/>
          </a:xfrm>
          <a:prstGeom prst="line">
            <a:avLst/>
          </a:prstGeom>
          <a:noFill/>
          <a:ln w="7144">
            <a:solidFill>
              <a:srgbClr val="4E6ABF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221581" y="2640285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865269" y="2640285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0" y="311177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LOOP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857375" y="3433242"/>
            <a:ext cx="5429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cycle takes ~60 seconds from the employee and produces a daily, privacy-safe signal for the manager.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4857750"/>
            <a:ext cx="7889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· HACKATHON PITCH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361118" y="48577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HOW IT WORKS · 04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14363"/>
            <a:ext cx="8636000" cy="43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9"/>
              </a:lnSpc>
              <a:buNone/>
            </a:pPr>
            <a:r>
              <a:rPr lang="en-US" sz="2925" b="1" spc="-73" kern="0" dirty="0">
                <a:solidFill>
                  <a:srgbClr val="1F2A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 seconds from feeling to insight.</a:t>
            </a:r>
            <a:endParaRPr lang="en-US" sz="2925" dirty="0"/>
          </a:p>
        </p:txBody>
      </p:sp>
      <p:sp>
        <p:nvSpPr>
          <p:cNvPr id="4" name="Text 2"/>
          <p:cNvSpPr/>
          <p:nvPr/>
        </p:nvSpPr>
        <p:spPr>
          <a:xfrm>
            <a:off x="457200" y="1101254"/>
            <a:ext cx="528637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short, daily cycle that turns a single honest answer into a trend the manager can act on.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00088" y="1501304"/>
            <a:ext cx="314325" cy="314325"/>
          </a:xfrm>
          <a:prstGeom prst="roundRect">
            <a:avLst>
              <a:gd name="adj" fmla="val 302727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0088" y="1501304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2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700088" y="1887066"/>
            <a:ext cx="1469832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 checks in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700088" y="2112764"/>
            <a:ext cx="1785938" cy="447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short daily pulse: how are you feeling, workload, stress — ~60 seconds.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3659" y="2591619"/>
            <a:ext cx="1707356" cy="1064419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7244" y="2695203"/>
            <a:ext cx="1590199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Any thoughts on your workload, stress level, or wellbeing today?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10816" y="3018681"/>
            <a:ext cx="178594" cy="178594"/>
          </a:xfrm>
          <a:prstGeom prst="roundRect">
            <a:avLst>
              <a:gd name="adj" fmla="val 5327993"/>
            </a:avLst>
          </a:prstGeom>
          <a:noFill/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0106" y="3057971"/>
            <a:ext cx="100013" cy="100013"/>
          </a:xfrm>
          <a:prstGeom prst="roundRect">
            <a:avLst>
              <a:gd name="adj" fmla="val 9514238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53703" y="3018681"/>
            <a:ext cx="178594" cy="178594"/>
          </a:xfrm>
          <a:prstGeom prst="roundRect">
            <a:avLst>
              <a:gd name="adj" fmla="val 5327993"/>
            </a:avLst>
          </a:prstGeom>
          <a:noFill/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2994" y="3057971"/>
            <a:ext cx="100013" cy="100013"/>
          </a:xfrm>
          <a:prstGeom prst="roundRect">
            <a:avLst>
              <a:gd name="adj" fmla="val 9514238"/>
            </a:avLst>
          </a:prstGeom>
          <a:solidFill>
            <a:srgbClr val="3F7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96591" y="3018681"/>
            <a:ext cx="178594" cy="178594"/>
          </a:xfrm>
          <a:prstGeom prst="roundRect">
            <a:avLst>
              <a:gd name="adj" fmla="val 5327993"/>
            </a:avLst>
          </a:prstGeom>
          <a:noFill/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35881" y="3057971"/>
            <a:ext cx="100013" cy="100013"/>
          </a:xfrm>
          <a:prstGeom prst="roundRect">
            <a:avLst>
              <a:gd name="adj" fmla="val 9514238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39478" y="3018681"/>
            <a:ext cx="178594" cy="178594"/>
          </a:xfrm>
          <a:prstGeom prst="roundRect">
            <a:avLst>
              <a:gd name="adj" fmla="val 5327993"/>
            </a:avLst>
          </a:prstGeom>
          <a:noFill/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78769" y="3057971"/>
            <a:ext cx="100013" cy="100013"/>
          </a:xfrm>
          <a:prstGeom prst="roundRect">
            <a:avLst>
              <a:gd name="adj" fmla="val 9514238"/>
            </a:avLst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82366" y="3018681"/>
            <a:ext cx="178594" cy="178594"/>
          </a:xfrm>
          <a:prstGeom prst="roundRect">
            <a:avLst>
              <a:gd name="adj" fmla="val 5327993"/>
            </a:avLst>
          </a:prstGeom>
          <a:noFill/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821656" y="3057971"/>
            <a:ext cx="100013" cy="100013"/>
          </a:xfrm>
          <a:prstGeom prst="roundRect">
            <a:avLst>
              <a:gd name="adj" fmla="val 9514238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6255" y="3305288"/>
            <a:ext cx="566709" cy="184023"/>
          </a:xfrm>
          <a:prstGeom prst="roundRect">
            <a:avLst>
              <a:gd name="adj" fmla="val 41408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7244" y="3315146"/>
            <a:ext cx="52473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Submit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86025" y="154416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2686050" y="1501304"/>
            <a:ext cx="314325" cy="314325"/>
          </a:xfrm>
          <a:prstGeom prst="roundRect">
            <a:avLst>
              <a:gd name="adj" fmla="val 302727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686050" y="1501304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2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2686050" y="1887066"/>
            <a:ext cx="1785938" cy="33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captures the signal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2686050" y="2267024"/>
            <a:ext cx="1785938" cy="582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index is computed deterministically from workload, manager support, team collaboration, motivation, and stress balance.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689622" y="2880494"/>
            <a:ext cx="1707356" cy="1064419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793206" y="2984078"/>
            <a:ext cx="7150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Workload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50419" y="3016225"/>
            <a:ext cx="942975" cy="42863"/>
          </a:xfrm>
          <a:prstGeom prst="roundRect">
            <a:avLst>
              <a:gd name="adj" fmla="val 22199741"/>
            </a:avLst>
          </a:prstGeom>
          <a:solidFill>
            <a:srgbClr val="E6E7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50419" y="3016225"/>
            <a:ext cx="660016" cy="42863"/>
          </a:xfrm>
          <a:prstGeom prst="roundRect">
            <a:avLst>
              <a:gd name="adj" fmla="val 22199741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793206" y="3141241"/>
            <a:ext cx="62507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Mgr Support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50419" y="3226966"/>
            <a:ext cx="942975" cy="42863"/>
          </a:xfrm>
          <a:prstGeom prst="roundRect">
            <a:avLst>
              <a:gd name="adj" fmla="val 22199741"/>
            </a:avLst>
          </a:prstGeom>
          <a:solidFill>
            <a:srgbClr val="E6E7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350419" y="3226966"/>
            <a:ext cx="565696" cy="42863"/>
          </a:xfrm>
          <a:prstGeom prst="roundRect">
            <a:avLst>
              <a:gd name="adj" fmla="val 22199741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793206" y="3405560"/>
            <a:ext cx="6250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Collaboration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350419" y="3437706"/>
            <a:ext cx="942975" cy="42863"/>
          </a:xfrm>
          <a:prstGeom prst="roundRect">
            <a:avLst>
              <a:gd name="adj" fmla="val 22199741"/>
            </a:avLst>
          </a:prstGeom>
          <a:solidFill>
            <a:srgbClr val="E6E7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50419" y="3437706"/>
            <a:ext cx="754335" cy="42863"/>
          </a:xfrm>
          <a:prstGeom prst="roundRect">
            <a:avLst>
              <a:gd name="adj" fmla="val 22199741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770262" y="3562722"/>
            <a:ext cx="6709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Motivation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50419" y="3594869"/>
            <a:ext cx="942975" cy="42863"/>
          </a:xfrm>
          <a:prstGeom prst="roundRect">
            <a:avLst>
              <a:gd name="adj" fmla="val 22199741"/>
            </a:avLst>
          </a:prstGeom>
          <a:solidFill>
            <a:srgbClr val="E6E7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350419" y="3594869"/>
            <a:ext cx="518592" cy="42863"/>
          </a:xfrm>
          <a:prstGeom prst="roundRect">
            <a:avLst>
              <a:gd name="adj" fmla="val 22199741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793206" y="3719885"/>
            <a:ext cx="5286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Stress Balance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50419" y="3805610"/>
            <a:ext cx="942975" cy="42863"/>
          </a:xfrm>
          <a:prstGeom prst="roundRect">
            <a:avLst>
              <a:gd name="adj" fmla="val 22199741"/>
            </a:avLst>
          </a:prstGeom>
          <a:solidFill>
            <a:srgbClr val="E6E7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50419" y="3805610"/>
            <a:ext cx="707231" cy="42863"/>
          </a:xfrm>
          <a:prstGeom prst="roundRect">
            <a:avLst>
              <a:gd name="adj" fmla="val 22199741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793206" y="3991347"/>
            <a:ext cx="15001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Index </a:t>
            </a:r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78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471988" y="154416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46" name="Text 44"/>
          <p:cNvSpPr/>
          <p:nvPr/>
        </p:nvSpPr>
        <p:spPr>
          <a:xfrm>
            <a:off x="4672013" y="1501304"/>
            <a:ext cx="314325" cy="314325"/>
          </a:xfrm>
          <a:prstGeom prst="roundRect">
            <a:avLst>
              <a:gd name="adj" fmla="val 302727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672013" y="1501304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2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013" dirty="0"/>
          </a:p>
        </p:txBody>
      </p:sp>
      <p:sp>
        <p:nvSpPr>
          <p:cNvPr id="48" name="Text 46"/>
          <p:cNvSpPr/>
          <p:nvPr/>
        </p:nvSpPr>
        <p:spPr>
          <a:xfrm>
            <a:off x="4672013" y="1887066"/>
            <a:ext cx="1785938" cy="33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 identifies trends</a:t>
            </a:r>
            <a:endParaRPr lang="en-US" sz="1013" dirty="0"/>
          </a:p>
        </p:txBody>
      </p:sp>
      <p:sp>
        <p:nvSpPr>
          <p:cNvPr id="49" name="Text 47"/>
          <p:cNvSpPr/>
          <p:nvPr/>
        </p:nvSpPr>
        <p:spPr>
          <a:xfrm>
            <a:off x="4672013" y="2267024"/>
            <a:ext cx="1785938" cy="447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Daily signals aggregate into weekly trends, sentiment distribution, and stress indicators.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75584" y="2745879"/>
            <a:ext cx="1707356" cy="1064419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779169" y="3089560"/>
            <a:ext cx="265658" cy="159953"/>
          </a:xfrm>
          <a:prstGeom prst="roundRect">
            <a:avLst>
              <a:gd name="adj" fmla="val 17865"/>
            </a:avLst>
          </a:prstGeom>
          <a:solidFill>
            <a:srgbClr val="6A8B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087689" y="3029508"/>
            <a:ext cx="265770" cy="220005"/>
          </a:xfrm>
          <a:prstGeom prst="roundRect">
            <a:avLst>
              <a:gd name="adj" fmla="val 12988"/>
            </a:avLst>
          </a:prstGeom>
          <a:solidFill>
            <a:srgbClr val="6A8B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396322" y="3049488"/>
            <a:ext cx="265770" cy="200025"/>
          </a:xfrm>
          <a:prstGeom prst="roundRect">
            <a:avLst>
              <a:gd name="adj" fmla="val 14286"/>
            </a:avLst>
          </a:prstGeom>
          <a:solidFill>
            <a:srgbClr val="6A8B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704954" y="2969568"/>
            <a:ext cx="265770" cy="279946"/>
          </a:xfrm>
          <a:prstGeom prst="roundRect">
            <a:avLst>
              <a:gd name="adj" fmla="val 10752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013586" y="2937532"/>
            <a:ext cx="265770" cy="311981"/>
          </a:xfrm>
          <a:prstGeom prst="roundRect">
            <a:avLst>
              <a:gd name="adj" fmla="val 10752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779169" y="3349526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3F7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779169" y="3320951"/>
            <a:ext cx="4048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62%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089364" y="3349526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089364" y="3320951"/>
            <a:ext cx="4048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28%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99559" y="3349526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399559" y="3320951"/>
            <a:ext cx="8797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79169" y="3470970"/>
            <a:ext cx="15001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F2A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Check-in rate 92%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457950" y="154416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64" name="Text 62"/>
          <p:cNvSpPr/>
          <p:nvPr/>
        </p:nvSpPr>
        <p:spPr>
          <a:xfrm>
            <a:off x="6657975" y="1501304"/>
            <a:ext cx="314325" cy="314325"/>
          </a:xfrm>
          <a:prstGeom prst="roundRect">
            <a:avLst>
              <a:gd name="adj" fmla="val 302727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657975" y="1501304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2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013" dirty="0"/>
          </a:p>
        </p:txBody>
      </p:sp>
      <p:sp>
        <p:nvSpPr>
          <p:cNvPr id="66" name="Text 64"/>
          <p:cNvSpPr/>
          <p:nvPr/>
        </p:nvSpPr>
        <p:spPr>
          <a:xfrm>
            <a:off x="6657975" y="1887066"/>
            <a:ext cx="1785938" cy="33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 gets actionable insight</a:t>
            </a:r>
            <a:endParaRPr lang="en-US" sz="1013" dirty="0"/>
          </a:p>
        </p:txBody>
      </p:sp>
      <p:sp>
        <p:nvSpPr>
          <p:cNvPr id="67" name="Text 65"/>
          <p:cNvSpPr/>
          <p:nvPr/>
        </p:nvSpPr>
        <p:spPr>
          <a:xfrm>
            <a:off x="6657975" y="2267024"/>
            <a:ext cx="1785938" cy="447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PulseAgent turns trends into 1:1 talking points the manager can use that day.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661547" y="2745879"/>
            <a:ext cx="1707356" cy="1064419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765131" y="284946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70" name="Text 68"/>
          <p:cNvSpPr/>
          <p:nvPr/>
        </p:nvSpPr>
        <p:spPr>
          <a:xfrm>
            <a:off x="6922294" y="2853035"/>
            <a:ext cx="13430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PULSEAGENT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765131" y="3035201"/>
            <a:ext cx="1590199" cy="24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Workload sustainability dip in CS team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765131" y="3308003"/>
            <a:ext cx="1620203" cy="1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2A3A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talking points ready for next 1:1</a:t>
            </a:r>
            <a:endParaRPr lang="en-US" sz="647" dirty="0"/>
          </a:p>
        </p:txBody>
      </p:sp>
      <p:sp>
        <p:nvSpPr>
          <p:cNvPr id="73" name="Text 71"/>
          <p:cNvSpPr/>
          <p:nvPr/>
        </p:nvSpPr>
        <p:spPr>
          <a:xfrm>
            <a:off x="6765131" y="3465835"/>
            <a:ext cx="1590199" cy="240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Suggested follow-up question drafted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57200" y="4857750"/>
            <a:ext cx="7889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· HACKATHON PITCH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361118" y="48577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PRODUCT · 05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0075"/>
            <a:ext cx="8636000" cy="3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49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Here’s what we actually built.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457200" y="1001464"/>
            <a:ext cx="542925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panel below ships in the live app at peoplepulse-app.vercel.app — no mockups, no fake UI.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60772" y="1317575"/>
            <a:ext cx="2402756" cy="1528763"/>
          </a:xfrm>
          <a:prstGeom prst="roundRect">
            <a:avLst>
              <a:gd name="adj" fmla="val 872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8644" y="1421160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344A91"/>
          </a:solidFill>
          <a:ln/>
          <a:effectLst>
            <a:outerShdw sx="100000" sy="100000" kx="0" ky="0" algn="bl" rotWithShape="0" blurRad="57150" dist="19050" dir="5400000">
              <a:srgbClr val="344A91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8644" y="1421160"/>
            <a:ext cx="18031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82075" y="1412159"/>
            <a:ext cx="377565" cy="168021"/>
          </a:xfrm>
          <a:prstGeom prst="roundRect">
            <a:avLst>
              <a:gd name="adj" fmla="val 5663265"/>
            </a:avLst>
          </a:prstGeom>
          <a:solidFill>
            <a:srgbClr val="EAF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74652" y="1456879"/>
            <a:ext cx="17100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7" kern="0" dirty="0">
                <a:solidFill>
                  <a:srgbClr val="3F7A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53208" y="145687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7A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78644" y="1649760"/>
            <a:ext cx="2167012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39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INDEX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8644" y="1785491"/>
            <a:ext cx="679906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spc="-49" kern="0" dirty="0">
                <a:solidFill>
                  <a:srgbClr val="1F2A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78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1032160" y="1949797"/>
            <a:ext cx="17134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/100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8644" y="2203400"/>
            <a:ext cx="387660" cy="400050"/>
          </a:xfrm>
          <a:prstGeom prst="roundRect">
            <a:avLst>
              <a:gd name="adj" fmla="val 9828"/>
            </a:avLst>
          </a:prstGeom>
          <a:solidFill>
            <a:srgbClr val="E6E7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8644" y="2443497"/>
            <a:ext cx="387660" cy="159953"/>
          </a:xfrm>
          <a:prstGeom prst="roundRect">
            <a:avLst>
              <a:gd name="adj" fmla="val 23819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23454" y="2203400"/>
            <a:ext cx="387772" cy="400050"/>
          </a:xfrm>
          <a:prstGeom prst="roundRect">
            <a:avLst>
              <a:gd name="adj" fmla="val 9825"/>
            </a:avLst>
          </a:prstGeom>
          <a:solidFill>
            <a:srgbClr val="E6E7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23454" y="2383445"/>
            <a:ext cx="387772" cy="220005"/>
          </a:xfrm>
          <a:prstGeom prst="roundRect">
            <a:avLst>
              <a:gd name="adj" fmla="val 17318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68375" y="2203400"/>
            <a:ext cx="387660" cy="400050"/>
          </a:xfrm>
          <a:prstGeom prst="roundRect">
            <a:avLst>
              <a:gd name="adj" fmla="val 9828"/>
            </a:avLst>
          </a:prstGeom>
          <a:solidFill>
            <a:srgbClr val="E6E7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468375" y="2403425"/>
            <a:ext cx="387660" cy="200025"/>
          </a:xfrm>
          <a:prstGeom prst="roundRect">
            <a:avLst>
              <a:gd name="adj" fmla="val 19048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13186" y="2203400"/>
            <a:ext cx="387660" cy="400050"/>
          </a:xfrm>
          <a:prstGeom prst="roundRect">
            <a:avLst>
              <a:gd name="adj" fmla="val 9828"/>
            </a:avLst>
          </a:prstGeom>
          <a:solidFill>
            <a:srgbClr val="E6E7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913186" y="2323505"/>
            <a:ext cx="387660" cy="279946"/>
          </a:xfrm>
          <a:prstGeom prst="roundRect">
            <a:avLst>
              <a:gd name="adj" fmla="val 13610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57996" y="2203400"/>
            <a:ext cx="387660" cy="400050"/>
          </a:xfrm>
          <a:prstGeom prst="roundRect">
            <a:avLst>
              <a:gd name="adj" fmla="val 9828"/>
            </a:avLst>
          </a:prstGeom>
          <a:solidFill>
            <a:srgbClr val="E6E7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57996" y="2291469"/>
            <a:ext cx="387660" cy="311981"/>
          </a:xfrm>
          <a:prstGeom prst="roundRect">
            <a:avLst>
              <a:gd name="adj" fmla="val 12212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8644" y="2646313"/>
            <a:ext cx="50008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11000" y="2646313"/>
            <a:ext cx="61267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55954" y="2646313"/>
            <a:ext cx="61250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00764" y="2646313"/>
            <a:ext cx="61250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133153" y="2646313"/>
            <a:ext cx="61250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84971" y="1317575"/>
            <a:ext cx="3173946" cy="1528763"/>
          </a:xfrm>
          <a:prstGeom prst="roundRect">
            <a:avLst>
              <a:gd name="adj" fmla="val 872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102843" y="1421160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344A91"/>
          </a:solidFill>
          <a:ln/>
          <a:effectLst>
            <a:outerShdw sx="100000" sy="100000" kx="0" ky="0" algn="bl" rotWithShape="0" blurRad="57150" dist="19050" dir="5400000">
              <a:srgbClr val="344A91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102843" y="1421160"/>
            <a:ext cx="263905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56188" y="1453307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32176" y="1421160"/>
            <a:ext cx="3328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3F7A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102843" y="1649760"/>
            <a:ext cx="2938202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39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 DASHBOARD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102843" y="1828354"/>
            <a:ext cx="1440470" cy="460772"/>
          </a:xfrm>
          <a:prstGeom prst="roundRect">
            <a:avLst>
              <a:gd name="adj" fmla="val 1653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174281" y="1885504"/>
            <a:ext cx="129759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2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CHECK-IN RATE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74281" y="1996232"/>
            <a:ext cx="60204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92%</a:t>
            </a:r>
            <a:endParaRPr lang="en-US" sz="1238" dirty="0"/>
          </a:p>
        </p:txBody>
      </p:sp>
      <p:sp>
        <p:nvSpPr>
          <p:cNvPr id="38" name="Text 36"/>
          <p:cNvSpPr/>
          <p:nvPr/>
        </p:nvSpPr>
        <p:spPr>
          <a:xfrm>
            <a:off x="3579130" y="2089100"/>
            <a:ext cx="8927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92/100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00463" y="1828354"/>
            <a:ext cx="1440582" cy="460772"/>
          </a:xfrm>
          <a:prstGeom prst="roundRect">
            <a:avLst>
              <a:gd name="adj" fmla="val 1653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671901" y="1885504"/>
            <a:ext cx="12977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2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SENTIMENT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71901" y="2039094"/>
            <a:ext cx="1297707" cy="57150"/>
          </a:xfrm>
          <a:prstGeom prst="roundRect">
            <a:avLst>
              <a:gd name="adj" fmla="val 16650000"/>
            </a:avLst>
          </a:prstGeom>
          <a:solidFill>
            <a:srgbClr val="E6E7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671901" y="2039094"/>
            <a:ext cx="804565" cy="5715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76466" y="2039094"/>
            <a:ext cx="363327" cy="5715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839792" y="2039094"/>
            <a:ext cx="129704" cy="571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671901" y="2124819"/>
            <a:ext cx="137556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Positive 62 · Neutral 28 · Attn 10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3102843" y="2346275"/>
            <a:ext cx="1440470" cy="557213"/>
          </a:xfrm>
          <a:prstGeom prst="roundRect">
            <a:avLst>
              <a:gd name="adj" fmla="val 13675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174281" y="2403425"/>
            <a:ext cx="12975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2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STRESS LEVEL</a:t>
            </a:r>
            <a:endParaRPr lang="en-US" sz="8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4281" y="2585591"/>
            <a:ext cx="1297595" cy="42863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3498652" y="2549872"/>
            <a:ext cx="21431" cy="114300"/>
          </a:xfrm>
          <a:prstGeom prst="roundRect">
            <a:avLst>
              <a:gd name="adj" fmla="val 88890"/>
            </a:avLst>
          </a:prstGeom>
          <a:solidFill>
            <a:srgbClr val="1F2A28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3174281" y="2664172"/>
            <a:ext cx="12975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600463" y="2346275"/>
            <a:ext cx="1440582" cy="557213"/>
          </a:xfrm>
          <a:prstGeom prst="roundRect">
            <a:avLst>
              <a:gd name="adj" fmla="val 13675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4671901" y="2403425"/>
            <a:ext cx="129770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2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ALERTS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649041" y="2555159"/>
            <a:ext cx="832872" cy="168021"/>
          </a:xfrm>
          <a:prstGeom prst="roundRect">
            <a:avLst>
              <a:gd name="adj" fmla="val 5663265"/>
            </a:avLst>
          </a:prstGeom>
          <a:solidFill>
            <a:srgbClr val="FFF6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821536" y="2599879"/>
            <a:ext cx="609326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7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ATTENTION</a:t>
            </a:r>
            <a:endParaRPr lang="en-US" sz="600" dirty="0"/>
          </a:p>
        </p:txBody>
      </p:sp>
      <p:sp>
        <p:nvSpPr>
          <p:cNvPr id="55" name="Text 52"/>
          <p:cNvSpPr/>
          <p:nvPr/>
        </p:nvSpPr>
        <p:spPr>
          <a:xfrm>
            <a:off x="4729051" y="259987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4671901" y="2749897"/>
            <a:ext cx="129770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teams need follow-up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6280361" y="1317575"/>
            <a:ext cx="2402756" cy="1528763"/>
          </a:xfrm>
          <a:prstGeom prst="roundRect">
            <a:avLst>
              <a:gd name="adj" fmla="val 872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6398233" y="1421160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344A91"/>
          </a:solidFill>
          <a:ln/>
          <a:effectLst>
            <a:outerShdw sx="100000" sy="100000" kx="0" ky="0" algn="bl" rotWithShape="0" blurRad="57150" dist="19050" dir="5400000">
              <a:srgbClr val="344A91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6398233" y="1421160"/>
            <a:ext cx="202413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8436657" y="142116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61" name="Text 58"/>
          <p:cNvSpPr/>
          <p:nvPr/>
        </p:nvSpPr>
        <p:spPr>
          <a:xfrm>
            <a:off x="6398233" y="1649760"/>
            <a:ext cx="21670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39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CHECK-IN STREAK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6398233" y="1856929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6730864" y="1856929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7063383" y="1856929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7396014" y="1856929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7728645" y="1856929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8061164" y="1856929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6A8BE8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8397367" y="1860500"/>
            <a:ext cx="164306" cy="164306"/>
          </a:xfrm>
          <a:prstGeom prst="roundRect">
            <a:avLst>
              <a:gd name="adj" fmla="val 34783"/>
            </a:avLst>
          </a:prstGeom>
          <a:noFill/>
          <a:ln w="7144">
            <a:solidFill>
              <a:srgbClr val="E1E4EA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6"/>
          <p:cNvSpPr/>
          <p:nvPr/>
        </p:nvSpPr>
        <p:spPr>
          <a:xfrm>
            <a:off x="6398233" y="2410569"/>
            <a:ext cx="2167012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1F2A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days</a:t>
            </a:r>
            <a:endParaRPr lang="en-US" sz="1575" dirty="0"/>
          </a:p>
        </p:txBody>
      </p:sp>
      <p:sp>
        <p:nvSpPr>
          <p:cNvPr id="70" name="Text 67"/>
          <p:cNvSpPr/>
          <p:nvPr/>
        </p:nvSpPr>
        <p:spPr>
          <a:xfrm>
            <a:off x="6398233" y="2624882"/>
            <a:ext cx="216701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signal coming.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460772" y="2967782"/>
            <a:ext cx="2402756" cy="1528763"/>
          </a:xfrm>
          <a:prstGeom prst="roundRect">
            <a:avLst>
              <a:gd name="adj" fmla="val 872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578644" y="3071366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344A91"/>
          </a:solidFill>
          <a:ln/>
          <a:effectLst>
            <a:outerShdw sx="100000" sy="100000" kx="0" ky="0" algn="bl" rotWithShape="0" blurRad="57150" dist="19050" dir="5400000">
              <a:srgbClr val="344A91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0"/>
          <p:cNvSpPr/>
          <p:nvPr/>
        </p:nvSpPr>
        <p:spPr>
          <a:xfrm>
            <a:off x="578644" y="3071366"/>
            <a:ext cx="202413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2617068" y="30713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266" dirty="0"/>
          </a:p>
        </p:txBody>
      </p:sp>
      <p:sp>
        <p:nvSpPr>
          <p:cNvPr id="75" name="Text 72"/>
          <p:cNvSpPr/>
          <p:nvPr/>
        </p:nvSpPr>
        <p:spPr>
          <a:xfrm>
            <a:off x="578644" y="3299966"/>
            <a:ext cx="2167012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39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SENTIMENT DISTRIBUTION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578644" y="3628579"/>
            <a:ext cx="614363" cy="614363"/>
          </a:xfrm>
          <a:prstGeom prst="roundRect">
            <a:avLst>
              <a:gd name="adj" fmla="val 1548836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4"/>
          <p:cNvSpPr/>
          <p:nvPr/>
        </p:nvSpPr>
        <p:spPr>
          <a:xfrm>
            <a:off x="1278731" y="372144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1393031" y="3691086"/>
            <a:ext cx="11187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Positive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2523935" y="3685729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62%</a:t>
            </a:r>
            <a:endParaRPr lang="en-US" sz="800" dirty="0"/>
          </a:p>
        </p:txBody>
      </p:sp>
      <p:sp>
        <p:nvSpPr>
          <p:cNvPr id="80" name="Text 77"/>
          <p:cNvSpPr/>
          <p:nvPr/>
        </p:nvSpPr>
        <p:spPr>
          <a:xfrm>
            <a:off x="1278731" y="3907185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8"/>
          <p:cNvSpPr/>
          <p:nvPr/>
        </p:nvSpPr>
        <p:spPr>
          <a:xfrm>
            <a:off x="1393031" y="3876824"/>
            <a:ext cx="11187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Neutral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2523935" y="3871466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28%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1278731" y="4092922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1"/>
          <p:cNvSpPr/>
          <p:nvPr/>
        </p:nvSpPr>
        <p:spPr>
          <a:xfrm>
            <a:off x="1393031" y="4062561"/>
            <a:ext cx="11187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Attention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2523935" y="4057204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DC262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2984971" y="2967782"/>
            <a:ext cx="3173946" cy="1528763"/>
          </a:xfrm>
          <a:prstGeom prst="roundRect">
            <a:avLst>
              <a:gd name="adj" fmla="val 872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4"/>
          <p:cNvSpPr/>
          <p:nvPr/>
        </p:nvSpPr>
        <p:spPr>
          <a:xfrm>
            <a:off x="3102843" y="3071366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344A91"/>
          </a:solidFill>
          <a:ln/>
          <a:effectLst>
            <a:outerShdw sx="100000" sy="100000" kx="0" ky="0" algn="bl" rotWithShape="0" blurRad="57150" dist="19050" dir="5400000">
              <a:srgbClr val="344A91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5"/>
          <p:cNvSpPr/>
          <p:nvPr/>
        </p:nvSpPr>
        <p:spPr>
          <a:xfrm>
            <a:off x="3102843" y="3071366"/>
            <a:ext cx="251192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89" name="Text 86"/>
          <p:cNvSpPr/>
          <p:nvPr/>
        </p:nvSpPr>
        <p:spPr>
          <a:xfrm>
            <a:off x="5612572" y="3063008"/>
            <a:ext cx="444953" cy="156020"/>
          </a:xfrm>
          <a:prstGeom prst="roundRect">
            <a:avLst>
              <a:gd name="adj" fmla="val 6098882"/>
            </a:avLst>
          </a:prstGeom>
          <a:solidFill>
            <a:srgbClr val="EE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7"/>
          <p:cNvSpPr/>
          <p:nvPr/>
        </p:nvSpPr>
        <p:spPr>
          <a:xfrm>
            <a:off x="5594277" y="3071366"/>
            <a:ext cx="48154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WEEKLY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3102843" y="3299966"/>
            <a:ext cx="2938202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39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TREND</a:t>
            </a:r>
            <a:endParaRPr lang="en-US" sz="800" dirty="0"/>
          </a:p>
        </p:txBody>
      </p:sp>
      <p:sp>
        <p:nvSpPr>
          <p:cNvPr id="92" name="Text 89"/>
          <p:cNvSpPr/>
          <p:nvPr/>
        </p:nvSpPr>
        <p:spPr>
          <a:xfrm>
            <a:off x="3093219" y="3464272"/>
            <a:ext cx="19391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"/>
              </a:lnSpc>
              <a:buNone/>
            </a:pPr>
            <a:r>
              <a:rPr lang="en-US" sz="6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endParaRPr lang="en-US" sz="600" dirty="0"/>
          </a:p>
        </p:txBody>
      </p:sp>
      <p:sp>
        <p:nvSpPr>
          <p:cNvPr id="93" name="Text 90"/>
          <p:cNvSpPr/>
          <p:nvPr/>
        </p:nvSpPr>
        <p:spPr>
          <a:xfrm>
            <a:off x="3098065" y="3835747"/>
            <a:ext cx="18422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endParaRPr lang="en-US" sz="800" dirty="0"/>
          </a:p>
        </p:txBody>
      </p:sp>
      <p:sp>
        <p:nvSpPr>
          <p:cNvPr id="94" name="Text 91"/>
          <p:cNvSpPr/>
          <p:nvPr/>
        </p:nvSpPr>
        <p:spPr>
          <a:xfrm>
            <a:off x="3102843" y="4207222"/>
            <a:ext cx="174665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800" dirty="0"/>
          </a:p>
        </p:txBody>
      </p:sp>
      <p:pic>
        <p:nvPicPr>
          <p:cNvPr id="95" name="Image 1" descr="/tmp/h2p-svg-1789069928510-2w0qv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006" y="3492847"/>
            <a:ext cx="2781040" cy="771525"/>
          </a:xfrm>
          <a:prstGeom prst="rect">
            <a:avLst/>
          </a:prstGeom>
        </p:spPr>
      </p:pic>
      <p:sp>
        <p:nvSpPr>
          <p:cNvPr id="96" name="Text 92"/>
          <p:cNvSpPr/>
          <p:nvPr/>
        </p:nvSpPr>
        <p:spPr>
          <a:xfrm>
            <a:off x="5281207" y="3470202"/>
            <a:ext cx="629610" cy="156020"/>
          </a:xfrm>
          <a:prstGeom prst="roundRect">
            <a:avLst>
              <a:gd name="adj" fmla="val 36630"/>
            </a:avLst>
          </a:prstGeom>
          <a:solidFill>
            <a:srgbClr val="344A91"/>
          </a:solidFill>
          <a:ln/>
          <a:effectLst>
            <a:outerShdw sx="100000" sy="100000" kx="0" ky="0" algn="bl" rotWithShape="0" blurRad="152400" dist="38100" dir="5400000">
              <a:srgbClr val="1F2A28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3"/>
          <p:cNvSpPr/>
          <p:nvPr/>
        </p:nvSpPr>
        <p:spPr>
          <a:xfrm>
            <a:off x="5231156" y="3478560"/>
            <a:ext cx="72971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+6 this week</a:t>
            </a:r>
            <a:endParaRPr lang="en-US" sz="800" dirty="0"/>
          </a:p>
        </p:txBody>
      </p:sp>
      <p:sp>
        <p:nvSpPr>
          <p:cNvPr id="98" name="Text 94"/>
          <p:cNvSpPr/>
          <p:nvPr/>
        </p:nvSpPr>
        <p:spPr>
          <a:xfrm>
            <a:off x="3260006" y="4301877"/>
            <a:ext cx="36734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7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W1</a:t>
            </a:r>
            <a:endParaRPr lang="en-US" sz="800" dirty="0"/>
          </a:p>
        </p:txBody>
      </p:sp>
      <p:sp>
        <p:nvSpPr>
          <p:cNvPr id="99" name="Text 95"/>
          <p:cNvSpPr/>
          <p:nvPr/>
        </p:nvSpPr>
        <p:spPr>
          <a:xfrm>
            <a:off x="3641638" y="4301877"/>
            <a:ext cx="36745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7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W2</a:t>
            </a:r>
            <a:endParaRPr lang="en-US" sz="800" dirty="0"/>
          </a:p>
        </p:txBody>
      </p:sp>
      <p:sp>
        <p:nvSpPr>
          <p:cNvPr id="100" name="Text 96"/>
          <p:cNvSpPr/>
          <p:nvPr/>
        </p:nvSpPr>
        <p:spPr>
          <a:xfrm>
            <a:off x="4023382" y="4301877"/>
            <a:ext cx="36734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7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W3</a:t>
            </a:r>
            <a:endParaRPr lang="en-US" sz="800" dirty="0"/>
          </a:p>
        </p:txBody>
      </p:sp>
      <p:sp>
        <p:nvSpPr>
          <p:cNvPr id="101" name="Text 97"/>
          <p:cNvSpPr/>
          <p:nvPr/>
        </p:nvSpPr>
        <p:spPr>
          <a:xfrm>
            <a:off x="4405015" y="4301877"/>
            <a:ext cx="36745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7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W4</a:t>
            </a:r>
            <a:endParaRPr lang="en-US" sz="800" dirty="0"/>
          </a:p>
        </p:txBody>
      </p:sp>
      <p:sp>
        <p:nvSpPr>
          <p:cNvPr id="102" name="Text 98"/>
          <p:cNvSpPr/>
          <p:nvPr/>
        </p:nvSpPr>
        <p:spPr>
          <a:xfrm>
            <a:off x="4786759" y="4301877"/>
            <a:ext cx="36734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7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W5</a:t>
            </a:r>
            <a:endParaRPr lang="en-US" sz="800" dirty="0"/>
          </a:p>
        </p:txBody>
      </p:sp>
      <p:sp>
        <p:nvSpPr>
          <p:cNvPr id="103" name="Text 99"/>
          <p:cNvSpPr/>
          <p:nvPr/>
        </p:nvSpPr>
        <p:spPr>
          <a:xfrm>
            <a:off x="5168392" y="4301877"/>
            <a:ext cx="36745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7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W6</a:t>
            </a:r>
            <a:endParaRPr lang="en-US" sz="800" dirty="0"/>
          </a:p>
        </p:txBody>
      </p:sp>
      <p:sp>
        <p:nvSpPr>
          <p:cNvPr id="104" name="Text 100"/>
          <p:cNvSpPr/>
          <p:nvPr/>
        </p:nvSpPr>
        <p:spPr>
          <a:xfrm>
            <a:off x="5550136" y="4301877"/>
            <a:ext cx="3779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17"/>
              </a:lnSpc>
              <a:buNone/>
            </a:pPr>
            <a:r>
              <a:rPr lang="en-US" sz="800" b="1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W7</a:t>
            </a:r>
            <a:endParaRPr lang="en-US" sz="800" dirty="0"/>
          </a:p>
        </p:txBody>
      </p:sp>
      <p:sp>
        <p:nvSpPr>
          <p:cNvPr id="105" name="Text 101"/>
          <p:cNvSpPr/>
          <p:nvPr/>
        </p:nvSpPr>
        <p:spPr>
          <a:xfrm>
            <a:off x="5922626" y="4301877"/>
            <a:ext cx="1381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17"/>
              </a:lnSpc>
              <a:buNone/>
            </a:pPr>
            <a:r>
              <a:rPr lang="en-US" sz="6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W8</a:t>
            </a:r>
            <a:endParaRPr lang="en-US" sz="600" dirty="0"/>
          </a:p>
        </p:txBody>
      </p:sp>
      <p:sp>
        <p:nvSpPr>
          <p:cNvPr id="106" name="Text 102"/>
          <p:cNvSpPr/>
          <p:nvPr/>
        </p:nvSpPr>
        <p:spPr>
          <a:xfrm>
            <a:off x="6280361" y="2967782"/>
            <a:ext cx="2402756" cy="1528763"/>
          </a:xfrm>
          <a:prstGeom prst="roundRect">
            <a:avLst>
              <a:gd name="adj" fmla="val 8723"/>
            </a:avLst>
          </a:prstGeom>
          <a:solidFill>
            <a:srgbClr val="EEF1FA"/>
          </a:solidFill>
          <a:ln w="7144">
            <a:solidFill>
              <a:srgbClr val="DDE3F4"/>
            </a:solidFill>
            <a:prstDash val="solid"/>
          </a:ln>
          <a:effectLst>
            <a:outerShdw sx="100000" sy="100000" kx="0" ky="0" algn="bl" rotWithShape="0" blurRad="152400" dist="38100" dir="5400000">
              <a:srgbClr val="4E6ABF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103"/>
          <p:cNvSpPr/>
          <p:nvPr/>
        </p:nvSpPr>
        <p:spPr>
          <a:xfrm>
            <a:off x="6398233" y="3071366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344A91"/>
          </a:solidFill>
          <a:ln/>
          <a:effectLst>
            <a:outerShdw sx="100000" sy="100000" kx="0" ky="0" algn="bl" rotWithShape="0" blurRad="57150" dist="19050" dir="5400000">
              <a:srgbClr val="344A91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104"/>
          <p:cNvSpPr/>
          <p:nvPr/>
        </p:nvSpPr>
        <p:spPr>
          <a:xfrm>
            <a:off x="6398233" y="3071366"/>
            <a:ext cx="196084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109" name="Text 105"/>
          <p:cNvSpPr/>
          <p:nvPr/>
        </p:nvSpPr>
        <p:spPr>
          <a:xfrm>
            <a:off x="8362395" y="3063008"/>
            <a:ext cx="213822" cy="156020"/>
          </a:xfrm>
          <a:prstGeom prst="roundRect">
            <a:avLst>
              <a:gd name="adj" fmla="val 6098882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106"/>
          <p:cNvSpPr/>
          <p:nvPr/>
        </p:nvSpPr>
        <p:spPr>
          <a:xfrm>
            <a:off x="8373368" y="3071366"/>
            <a:ext cx="19187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5" kern="0" dirty="0">
                <a:solidFill>
                  <a:srgbClr val="F7F7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endParaRPr lang="en-US" sz="800" dirty="0"/>
          </a:p>
        </p:txBody>
      </p:sp>
      <p:sp>
        <p:nvSpPr>
          <p:cNvPr id="111" name="Text 107"/>
          <p:cNvSpPr/>
          <p:nvPr/>
        </p:nvSpPr>
        <p:spPr>
          <a:xfrm>
            <a:off x="6398233" y="328567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12" name="Text 108"/>
          <p:cNvSpPr/>
          <p:nvPr/>
        </p:nvSpPr>
        <p:spPr>
          <a:xfrm>
            <a:off x="6555395" y="3289250"/>
            <a:ext cx="20098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PULSEAGENT</a:t>
            </a:r>
            <a:endParaRPr lang="en-US" sz="800" dirty="0"/>
          </a:p>
        </p:txBody>
      </p:sp>
      <p:sp>
        <p:nvSpPr>
          <p:cNvPr id="113" name="Text 109"/>
          <p:cNvSpPr/>
          <p:nvPr/>
        </p:nvSpPr>
        <p:spPr>
          <a:xfrm>
            <a:off x="6398233" y="3457129"/>
            <a:ext cx="21670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improved this week, with the biggest improvement coming from workload balance and team collaboration.</a:t>
            </a:r>
            <a:endParaRPr lang="en-US" sz="800" dirty="0"/>
          </a:p>
        </p:txBody>
      </p:sp>
      <p:sp>
        <p:nvSpPr>
          <p:cNvPr id="114" name="Text 110"/>
          <p:cNvSpPr/>
          <p:nvPr/>
        </p:nvSpPr>
        <p:spPr>
          <a:xfrm>
            <a:off x="6398233" y="4052096"/>
            <a:ext cx="643830" cy="162020"/>
          </a:xfrm>
          <a:prstGeom prst="roundRect">
            <a:avLst>
              <a:gd name="adj" fmla="val 5873025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1"/>
          <p:cNvSpPr/>
          <p:nvPr/>
        </p:nvSpPr>
        <p:spPr>
          <a:xfrm>
            <a:off x="6361287" y="4060775"/>
            <a:ext cx="71772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6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WORKLOAD ↑</a:t>
            </a:r>
            <a:endParaRPr lang="en-US" sz="800" dirty="0"/>
          </a:p>
        </p:txBody>
      </p:sp>
      <p:sp>
        <p:nvSpPr>
          <p:cNvPr id="116" name="Text 112"/>
          <p:cNvSpPr/>
          <p:nvPr/>
        </p:nvSpPr>
        <p:spPr>
          <a:xfrm>
            <a:off x="7084926" y="4052096"/>
            <a:ext cx="852562" cy="162020"/>
          </a:xfrm>
          <a:prstGeom prst="roundRect">
            <a:avLst>
              <a:gd name="adj" fmla="val 5873025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Text 113"/>
          <p:cNvSpPr/>
          <p:nvPr/>
        </p:nvSpPr>
        <p:spPr>
          <a:xfrm>
            <a:off x="7084926" y="4060775"/>
            <a:ext cx="85256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6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COLLABORATION ↑</a:t>
            </a:r>
            <a:endParaRPr lang="en-US" sz="800" dirty="0"/>
          </a:p>
        </p:txBody>
      </p:sp>
      <p:sp>
        <p:nvSpPr>
          <p:cNvPr id="118" name="Text 114"/>
          <p:cNvSpPr/>
          <p:nvPr/>
        </p:nvSpPr>
        <p:spPr>
          <a:xfrm>
            <a:off x="6375373" y="4239619"/>
            <a:ext cx="733864" cy="162020"/>
          </a:xfrm>
          <a:prstGeom prst="roundRect">
            <a:avLst>
              <a:gd name="adj" fmla="val 5873025"/>
            </a:avLst>
          </a:prstGeom>
          <a:solidFill>
            <a:srgbClr val="EAF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Text 115"/>
          <p:cNvSpPr/>
          <p:nvPr/>
        </p:nvSpPr>
        <p:spPr>
          <a:xfrm>
            <a:off x="6298922" y="4248299"/>
            <a:ext cx="88676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6" kern="0" dirty="0">
                <a:solidFill>
                  <a:srgbClr val="3F7A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ACTION READY</a:t>
            </a:r>
            <a:endParaRPr lang="en-US" sz="800" dirty="0"/>
          </a:p>
        </p:txBody>
      </p:sp>
      <p:sp>
        <p:nvSpPr>
          <p:cNvPr id="120" name="Text 116"/>
          <p:cNvSpPr/>
          <p:nvPr/>
        </p:nvSpPr>
        <p:spPr>
          <a:xfrm>
            <a:off x="457200" y="4857750"/>
            <a:ext cx="7889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E1E4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HACKATHON PITCH</a:t>
            </a:r>
            <a:endParaRPr lang="en-US" sz="800" dirty="0"/>
          </a:p>
        </p:txBody>
      </p:sp>
      <p:sp>
        <p:nvSpPr>
          <p:cNvPr id="121" name="Text 117"/>
          <p:cNvSpPr/>
          <p:nvPr/>
        </p:nvSpPr>
        <p:spPr>
          <a:xfrm>
            <a:off x="8361118" y="48577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15</a:t>
            </a:r>
            <a:endParaRPr lang="en-US" sz="800" dirty="0"/>
          </a:p>
        </p:txBody>
      </p:sp>
      <p:sp>
        <p:nvSpPr>
          <p:cNvPr id="122" name="Text 118"/>
          <p:cNvSpPr/>
          <p:nvPr/>
        </p:nvSpPr>
        <p:spPr>
          <a:xfrm>
            <a:off x="781683" y="3869010"/>
            <a:ext cx="208285" cy="24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6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Last 7</a:t>
            </a:r>
            <a:endParaRPr lang="en-US" sz="800" dirty="0"/>
          </a:p>
          <a:p>
            <a:pPr algn="ctr" indent="0" marL="0">
              <a:lnSpc>
                <a:spcPts val="526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days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WOW MOMENT · 06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85788"/>
            <a:ext cx="8636000" cy="299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7"/>
              </a:lnSpc>
              <a:buNone/>
            </a:pPr>
            <a:r>
              <a:rPr lang="en-US" sz="2025" b="1" spc="-51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thousands of individual signals to one clear picture.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57200" y="920651"/>
            <a:ext cx="571500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product’s job is not to show more data. It is to show less — with more meaning.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60772" y="1179612"/>
            <a:ext cx="8222456" cy="814388"/>
          </a:xfrm>
          <a:prstGeom prst="roundRect">
            <a:avLst>
              <a:gd name="adj" fmla="val 16374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2931" y="1284982"/>
            <a:ext cx="72942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RAW EMPLOYEE CHECK-INS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878574" y="1259907"/>
            <a:ext cx="695355" cy="168021"/>
          </a:xfrm>
          <a:prstGeom prst="roundRect">
            <a:avLst>
              <a:gd name="adj" fmla="val 5663265"/>
            </a:avLst>
          </a:prstGeom>
          <a:solidFill>
            <a:srgbClr val="EE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80028" y="1304627"/>
            <a:ext cx="4710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7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~24 / DAY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7958584" y="130462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2931" y="1479221"/>
            <a:ext cx="728439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1513" y="15618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2931" y="1490365"/>
            <a:ext cx="72843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Workload ok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64233" y="1479221"/>
            <a:ext cx="559445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42814" y="15618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64233" y="1490365"/>
            <a:ext cx="5594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Stress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66540" y="1479221"/>
            <a:ext cx="439117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045122" y="15618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966540" y="1490365"/>
            <a:ext cx="43911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Tired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48520" y="1479221"/>
            <a:ext cx="635124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527102" y="15618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48520" y="1490365"/>
            <a:ext cx="63512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Motivated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26507" y="1479221"/>
            <a:ext cx="683009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05088" y="15618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126507" y="1490365"/>
            <a:ext cx="68300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Need focus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52379" y="1479221"/>
            <a:ext cx="465013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930960" y="15618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852379" y="1490365"/>
            <a:ext cx="4650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360255" y="1479221"/>
            <a:ext cx="444364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38836" y="15618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360255" y="1490365"/>
            <a:ext cx="44436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7481" y="1479221"/>
            <a:ext cx="565584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26062" y="15618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47481" y="1490365"/>
            <a:ext cx="56558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Focused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55927" y="1479221"/>
            <a:ext cx="553752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34509" y="15618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455927" y="1490365"/>
            <a:ext cx="5537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Drained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52542" y="1479221"/>
            <a:ext cx="547613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131123" y="15618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052542" y="1490365"/>
            <a:ext cx="5476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Hopeful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43018" y="1479221"/>
            <a:ext cx="516471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21599" y="15618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43018" y="1490365"/>
            <a:ext cx="51647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Behind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02351" y="1479221"/>
            <a:ext cx="579537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280932" y="15618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202351" y="1490365"/>
            <a:ext cx="57953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 track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2931" y="1707821"/>
            <a:ext cx="790947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1513" y="17904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92931" y="1718965"/>
            <a:ext cx="79094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Overwhelmed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426741" y="1707821"/>
            <a:ext cx="651756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505322" y="17904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426741" y="1718965"/>
            <a:ext cx="6517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Supported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121359" y="1707821"/>
            <a:ext cx="694618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199940" y="17904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121359" y="1718965"/>
            <a:ext cx="6946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Recognized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858839" y="1707821"/>
            <a:ext cx="544153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2937421" y="17904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858839" y="1718965"/>
            <a:ext cx="54415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Unclear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445855" y="1707821"/>
            <a:ext cx="538237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524436" y="17904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3445855" y="1718965"/>
            <a:ext cx="53823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Aligned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026954" y="1707821"/>
            <a:ext cx="479301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105535" y="17904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026954" y="1718965"/>
            <a:ext cx="47930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Heard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549118" y="1707821"/>
            <a:ext cx="553641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627699" y="17904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549118" y="1718965"/>
            <a:ext cx="5536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Anxious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45621" y="1707821"/>
            <a:ext cx="632892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224202" y="17904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145621" y="1718965"/>
            <a:ext cx="63289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Energized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821375" y="1707821"/>
            <a:ext cx="624632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5899956" y="17904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5821375" y="1718965"/>
            <a:ext cx="62463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Stretched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488869" y="1707821"/>
            <a:ext cx="491803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6567450" y="17904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6488869" y="1718965"/>
            <a:ext cx="49180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Stable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023534" y="1707821"/>
            <a:ext cx="777664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7102115" y="17904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7014541" y="1718965"/>
            <a:ext cx="7956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Disconnected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844061" y="1707821"/>
            <a:ext cx="662583" cy="208026"/>
          </a:xfrm>
          <a:prstGeom prst="roundRect">
            <a:avLst>
              <a:gd name="adj" fmla="val 2747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7922642" y="1790402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7844061" y="1718965"/>
            <a:ext cx="66258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Recharged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486275" y="204043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688" dirty="0"/>
          </a:p>
        </p:txBody>
      </p:sp>
      <p:sp>
        <p:nvSpPr>
          <p:cNvPr id="83" name="Text 81"/>
          <p:cNvSpPr/>
          <p:nvPr/>
        </p:nvSpPr>
        <p:spPr>
          <a:xfrm>
            <a:off x="457200" y="2240459"/>
            <a:ext cx="74906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SIGNALS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962156" y="2240459"/>
            <a:ext cx="8941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DIMENSIONS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60772" y="2419052"/>
            <a:ext cx="1985963" cy="644723"/>
          </a:xfrm>
          <a:prstGeom prst="roundRect">
            <a:avLst>
              <a:gd name="adj" fmla="val 17729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564356" y="2494062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EAF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581501" y="251120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125" dirty="0"/>
          </a:p>
        </p:txBody>
      </p:sp>
      <p:sp>
        <p:nvSpPr>
          <p:cNvPr id="88" name="Text 86"/>
          <p:cNvSpPr/>
          <p:nvPr/>
        </p:nvSpPr>
        <p:spPr>
          <a:xfrm>
            <a:off x="1985955" y="2543175"/>
            <a:ext cx="3796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32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+12% </a:t>
            </a:r>
            <a:pPr algn="l" indent="0" marL="0">
              <a:lnSpc>
                <a:spcPts val="802"/>
              </a:lnSpc>
              <a:buNone/>
            </a:pPr>
            <a:r>
              <a:rPr lang="en-US" sz="800" b="1" spc="32" kern="0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564356" y="2736949"/>
            <a:ext cx="1778794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Sentiment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64356" y="2876252"/>
            <a:ext cx="177879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+12% positive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2539603" y="2419052"/>
            <a:ext cx="1985963" cy="644723"/>
          </a:xfrm>
          <a:prstGeom prst="roundRect">
            <a:avLst>
              <a:gd name="adj" fmla="val 17729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2643188" y="2494062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EE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2660333" y="251120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125" dirty="0"/>
          </a:p>
        </p:txBody>
      </p:sp>
      <p:sp>
        <p:nvSpPr>
          <p:cNvPr id="94" name="Text 92"/>
          <p:cNvSpPr/>
          <p:nvPr/>
        </p:nvSpPr>
        <p:spPr>
          <a:xfrm>
            <a:off x="4190597" y="2543175"/>
            <a:ext cx="2513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32" kern="0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+6 </a:t>
            </a:r>
            <a:pPr algn="l" indent="0" marL="0">
              <a:lnSpc>
                <a:spcPts val="802"/>
              </a:lnSpc>
              <a:buNone/>
            </a:pPr>
            <a:r>
              <a:rPr lang="en-US" sz="800" b="1" spc="32" kern="0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2643188" y="2736949"/>
            <a:ext cx="1778794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2643188" y="2876252"/>
            <a:ext cx="177879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78 / +6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4618434" y="2419052"/>
            <a:ext cx="1985963" cy="644723"/>
          </a:xfrm>
          <a:prstGeom prst="roundRect">
            <a:avLst>
              <a:gd name="adj" fmla="val 17729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4722019" y="2494062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EAF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4739164" y="251120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125" dirty="0"/>
          </a:p>
        </p:txBody>
      </p:sp>
      <p:sp>
        <p:nvSpPr>
          <p:cNvPr id="100" name="Text 98"/>
          <p:cNvSpPr/>
          <p:nvPr/>
        </p:nvSpPr>
        <p:spPr>
          <a:xfrm>
            <a:off x="6216067" y="2543175"/>
            <a:ext cx="2847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b="1" spc="32" kern="0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pPr algn="l" indent="0" marL="0">
              <a:lnSpc>
                <a:spcPts val="802"/>
              </a:lnSpc>
              <a:buNone/>
            </a:pPr>
            <a:r>
              <a:rPr lang="en-US" sz="600" b="1" spc="32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LOW</a:t>
            </a:r>
            <a:endParaRPr lang="en-US" sz="600" dirty="0"/>
          </a:p>
        </p:txBody>
      </p:sp>
      <p:sp>
        <p:nvSpPr>
          <p:cNvPr id="101" name="Text 99"/>
          <p:cNvSpPr/>
          <p:nvPr/>
        </p:nvSpPr>
        <p:spPr>
          <a:xfrm>
            <a:off x="4722019" y="2736949"/>
            <a:ext cx="1778794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Stress Level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4722019" y="2876252"/>
            <a:ext cx="177879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 ↓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6697266" y="2419052"/>
            <a:ext cx="1985963" cy="644723"/>
          </a:xfrm>
          <a:prstGeom prst="roundRect">
            <a:avLst>
              <a:gd name="adj" fmla="val 17729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102"/>
          <p:cNvSpPr/>
          <p:nvPr/>
        </p:nvSpPr>
        <p:spPr>
          <a:xfrm>
            <a:off x="6800850" y="2494062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FFF6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6817995" y="251120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106" name="Text 104"/>
          <p:cNvSpPr/>
          <p:nvPr/>
        </p:nvSpPr>
        <p:spPr>
          <a:xfrm>
            <a:off x="8265877" y="2543175"/>
            <a:ext cx="3137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b="1" spc="32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WK 7 </a:t>
            </a:r>
            <a:pPr algn="l" indent="0" marL="0">
              <a:lnSpc>
                <a:spcPts val="802"/>
              </a:lnSpc>
              <a:buNone/>
            </a:pPr>
            <a:r>
              <a:rPr lang="en-US" sz="600" b="1" spc="32" kern="0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6800850" y="2736949"/>
            <a:ext cx="1778794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Trends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6800850" y="2876252"/>
            <a:ext cx="177879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Wk 7 ↑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4486275" y="311021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688" dirty="0"/>
          </a:p>
        </p:txBody>
      </p:sp>
      <p:pic>
        <p:nvPicPr>
          <p:cNvPr id="1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750" y="3310235"/>
            <a:ext cx="6286500" cy="1259979"/>
          </a:xfrm>
          <a:prstGeom prst="rect">
            <a:avLst/>
          </a:prstGeom>
        </p:spPr>
      </p:pic>
      <p:sp>
        <p:nvSpPr>
          <p:cNvPr id="111" name="Text 108"/>
          <p:cNvSpPr/>
          <p:nvPr/>
        </p:nvSpPr>
        <p:spPr>
          <a:xfrm>
            <a:off x="1432322" y="3313807"/>
            <a:ext cx="6279356" cy="1252835"/>
          </a:xfrm>
          <a:prstGeom prst="roundRect">
            <a:avLst>
              <a:gd name="adj" fmla="val 13685"/>
            </a:avLst>
          </a:prstGeom>
          <a:noFill/>
          <a:ln w="7144">
            <a:solidFill>
              <a:srgbClr val="4E6ABF"/>
            </a:solidFill>
            <a:prstDash val="solid"/>
          </a:ln>
          <a:effectLst>
            <a:outerShdw sx="100000" sy="100000" kx="0" ky="0" algn="bl" rotWithShape="0" blurRad="381000" dist="171450" dir="5400000">
              <a:srgbClr val="4E6ABF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Text 109"/>
          <p:cNvSpPr/>
          <p:nvPr/>
        </p:nvSpPr>
        <p:spPr>
          <a:xfrm>
            <a:off x="1621631" y="344596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13" name="Text 110"/>
          <p:cNvSpPr/>
          <p:nvPr/>
        </p:nvSpPr>
        <p:spPr>
          <a:xfrm>
            <a:off x="1835944" y="3460254"/>
            <a:ext cx="43324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INSIGHT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6196980" y="3470970"/>
            <a:ext cx="13253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GENERATED FROM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28" kern="0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 SIGNALS</a:t>
            </a:r>
            <a:endParaRPr lang="en-US" sz="600" dirty="0"/>
          </a:p>
        </p:txBody>
      </p:sp>
      <p:sp>
        <p:nvSpPr>
          <p:cNvPr id="115" name="Text 112"/>
          <p:cNvSpPr/>
          <p:nvPr/>
        </p:nvSpPr>
        <p:spPr>
          <a:xfrm>
            <a:off x="1621631" y="3660279"/>
            <a:ext cx="5900738" cy="45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94" b="1" spc="-13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improved this week, with the biggest improvement coming from workload balance and team collaboration.</a:t>
            </a:r>
            <a:endParaRPr lang="en-US" sz="1294" dirty="0"/>
          </a:p>
        </p:txBody>
      </p:sp>
      <p:pic>
        <p:nvPicPr>
          <p:cNvPr id="116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1621631" y="4166592"/>
            <a:ext cx="5900738" cy="7144"/>
          </a:xfrm>
          <a:prstGeom prst="rect">
            <a:avLst/>
          </a:prstGeom>
        </p:spPr>
      </p:pic>
      <p:sp>
        <p:nvSpPr>
          <p:cNvPr id="117" name="Text 113"/>
          <p:cNvSpPr/>
          <p:nvPr/>
        </p:nvSpPr>
        <p:spPr>
          <a:xfrm>
            <a:off x="1621631" y="4245173"/>
            <a:ext cx="1572183" cy="189309"/>
          </a:xfrm>
          <a:prstGeom prst="roundRect">
            <a:avLst>
              <a:gd name="adj" fmla="val 5026425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Text 114"/>
          <p:cNvSpPr/>
          <p:nvPr/>
        </p:nvSpPr>
        <p:spPr>
          <a:xfrm>
            <a:off x="1835944" y="4288036"/>
            <a:ext cx="1386446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19" kern="0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1:1 TALKING POINTS READY</a:t>
            </a:r>
            <a:endParaRPr lang="en-US" sz="619" dirty="0"/>
          </a:p>
        </p:txBody>
      </p:sp>
      <p:sp>
        <p:nvSpPr>
          <p:cNvPr id="119" name="Text 115"/>
          <p:cNvSpPr/>
          <p:nvPr/>
        </p:nvSpPr>
        <p:spPr>
          <a:xfrm>
            <a:off x="1700213" y="429339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914" dirty="0"/>
          </a:p>
        </p:txBody>
      </p:sp>
      <p:sp>
        <p:nvSpPr>
          <p:cNvPr id="120" name="Text 116"/>
          <p:cNvSpPr/>
          <p:nvPr/>
        </p:nvSpPr>
        <p:spPr>
          <a:xfrm>
            <a:off x="3250964" y="4245173"/>
            <a:ext cx="1799779" cy="189309"/>
          </a:xfrm>
          <a:prstGeom prst="roundRect">
            <a:avLst>
              <a:gd name="adj" fmla="val 5026425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Text 117"/>
          <p:cNvSpPr/>
          <p:nvPr/>
        </p:nvSpPr>
        <p:spPr>
          <a:xfrm>
            <a:off x="3465277" y="4288036"/>
            <a:ext cx="1614041" cy="129679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19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FOLLOW-UP QUESTION DRAFTED</a:t>
            </a:r>
            <a:endParaRPr lang="en-US" sz="619" dirty="0"/>
          </a:p>
        </p:txBody>
      </p:sp>
      <p:sp>
        <p:nvSpPr>
          <p:cNvPr id="122" name="Text 118"/>
          <p:cNvSpPr/>
          <p:nvPr/>
        </p:nvSpPr>
        <p:spPr>
          <a:xfrm>
            <a:off x="3329546" y="429339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914" dirty="0"/>
          </a:p>
        </p:txBody>
      </p:sp>
      <p:sp>
        <p:nvSpPr>
          <p:cNvPr id="123" name="Text 119"/>
          <p:cNvSpPr/>
          <p:nvPr/>
        </p:nvSpPr>
        <p:spPr>
          <a:xfrm>
            <a:off x="5107893" y="4245173"/>
            <a:ext cx="1719635" cy="189309"/>
          </a:xfrm>
          <a:prstGeom prst="roundRect">
            <a:avLst>
              <a:gd name="adj" fmla="val 5026425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Text 120"/>
          <p:cNvSpPr/>
          <p:nvPr/>
        </p:nvSpPr>
        <p:spPr>
          <a:xfrm>
            <a:off x="5322205" y="4288036"/>
            <a:ext cx="2200163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9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WORKLOAD AUDIT SUGGESTED</a:t>
            </a:r>
            <a:endParaRPr lang="en-US" sz="800" dirty="0"/>
          </a:p>
        </p:txBody>
      </p:sp>
      <p:sp>
        <p:nvSpPr>
          <p:cNvPr id="125" name="Text 121"/>
          <p:cNvSpPr/>
          <p:nvPr/>
        </p:nvSpPr>
        <p:spPr>
          <a:xfrm>
            <a:off x="5186474" y="429339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14" dirty="0"/>
          </a:p>
        </p:txBody>
      </p:sp>
      <p:sp>
        <p:nvSpPr>
          <p:cNvPr id="126" name="Text 122"/>
          <p:cNvSpPr/>
          <p:nvPr/>
        </p:nvSpPr>
        <p:spPr>
          <a:xfrm>
            <a:off x="457200" y="4857750"/>
            <a:ext cx="7889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E1E4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HACKATHON PITCH</a:t>
            </a:r>
            <a:endParaRPr lang="en-US" sz="800" dirty="0"/>
          </a:p>
        </p:txBody>
      </p:sp>
      <p:sp>
        <p:nvSpPr>
          <p:cNvPr id="127" name="Text 123"/>
          <p:cNvSpPr/>
          <p:nvPr/>
        </p:nvSpPr>
        <p:spPr>
          <a:xfrm>
            <a:off x="8361118" y="48577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INNOVATION · 07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0075"/>
            <a:ext cx="8636000" cy="405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3"/>
              </a:lnSpc>
              <a:buNone/>
            </a:pPr>
            <a:r>
              <a:rPr lang="en-US" sz="2813" b="1" spc="-70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It’s not another employee survey.</a:t>
            </a:r>
            <a:endParaRPr lang="en-US" sz="2813" dirty="0"/>
          </a:p>
        </p:txBody>
      </p:sp>
      <p:sp>
        <p:nvSpPr>
          <p:cNvPr id="4" name="Text 2"/>
          <p:cNvSpPr/>
          <p:nvPr/>
        </p:nvSpPr>
        <p:spPr>
          <a:xfrm>
            <a:off x="457200" y="1046559"/>
            <a:ext cx="5429250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category has been stuck for 20 years. PeoplePulse changes the rhythm, the surface, and who acts.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60772" y="1538585"/>
            <a:ext cx="2993231" cy="2907506"/>
          </a:xfrm>
          <a:prstGeom prst="roundRect">
            <a:avLst>
              <a:gd name="adj" fmla="val 5242"/>
            </a:avLst>
          </a:prstGeom>
          <a:solidFill>
            <a:srgbClr val="F1F2F4">
              <a:alpha val="90000"/>
            </a:srgbClr>
          </a:solidFill>
          <a:ln w="7144">
            <a:solidFill>
              <a:srgbClr val="E1E4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1506" y="1702891"/>
            <a:ext cx="1717291" cy="178594"/>
          </a:xfrm>
          <a:prstGeom prst="roundRect">
            <a:avLst>
              <a:gd name="adj" fmla="val 5327993"/>
            </a:avLst>
          </a:prstGeom>
          <a:solidFill>
            <a:srgbClr val="EE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1531" y="1752898"/>
            <a:ext cx="1445828" cy="120701"/>
          </a:xfrm>
          <a:prstGeom prst="rect">
            <a:avLst/>
          </a:prstGeom>
          <a:noFill/>
          <a:ln/>
        </p:spPr>
        <p:txBody>
          <a:bodyPr wrap="none" lIns="71438" tIns="35719" rIns="71438" bIns="35719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TRADITIONAL EMPLOYEE SURVEYS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692944" y="174932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621506" y="1981498"/>
            <a:ext cx="2671763" cy="405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1181" b="1" spc="-12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Once a quarter. Once a year. Once it’s too late.</a:t>
            </a:r>
            <a:endParaRPr lang="en-US" sz="1181" dirty="0"/>
          </a:p>
        </p:txBody>
      </p:sp>
      <p:sp>
        <p:nvSpPr>
          <p:cNvPr id="10" name="Shape 8"/>
          <p:cNvSpPr/>
          <p:nvPr/>
        </p:nvSpPr>
        <p:spPr>
          <a:xfrm>
            <a:off x="621506" y="2460129"/>
            <a:ext cx="2671763" cy="0"/>
          </a:xfrm>
          <a:prstGeom prst="line">
            <a:avLst/>
          </a:prstGeom>
          <a:noFill/>
          <a:ln w="7144">
            <a:solidFill>
              <a:srgbClr val="E1E4E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21506" y="256371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07244" y="2556570"/>
            <a:ext cx="248602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Periodic (quarterly or annual)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506" y="279834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807244" y="2791197"/>
            <a:ext cx="248602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Long forms, low completion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1506" y="303296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07244" y="3025825"/>
            <a:ext cx="248602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Delayed feedback (weeks later)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506" y="326759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07244" y="3260452"/>
            <a:ext cx="2486025" cy="159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Static PDF reports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1506" y="35022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07244" y="3495080"/>
            <a:ext cx="248602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Reactive — only after issues escalate</a:t>
            </a:r>
            <a:endParaRPr lang="en-US" sz="8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9025" y="1535013"/>
            <a:ext cx="5057775" cy="29146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632597" y="1538585"/>
            <a:ext cx="5050631" cy="2907506"/>
          </a:xfrm>
          <a:prstGeom prst="roundRect">
            <a:avLst>
              <a:gd name="adj" fmla="val 5897"/>
            </a:avLst>
          </a:prstGeom>
          <a:noFill/>
          <a:ln w="7144">
            <a:solidFill>
              <a:srgbClr val="4E6ABF"/>
            </a:solidFill>
            <a:prstDash val="solid"/>
          </a:ln>
          <a:effectLst>
            <a:outerShdw sx="100000" sy="100000" kx="0" ky="0" algn="bl" rotWithShape="0" blurRad="381000" dist="171450" dir="5400000">
              <a:srgbClr val="4E6ABF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406" y="1256407"/>
            <a:ext cx="1143000" cy="11430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822406" y="1256407"/>
            <a:ext cx="1143000" cy="1143000"/>
          </a:xfrm>
          <a:prstGeom prst="roundRect">
            <a:avLst>
              <a:gd name="adj" fmla="val 832500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3813334" y="1702891"/>
            <a:ext cx="1204012" cy="200025"/>
          </a:xfrm>
          <a:prstGeom prst="roundRect">
            <a:avLst>
              <a:gd name="adj" fmla="val 4757143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050506" y="1763613"/>
            <a:ext cx="2910297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7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· PEOPLEPULSE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914775" y="175647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14" dirty="0"/>
          </a:p>
        </p:txBody>
      </p:sp>
      <p:sp>
        <p:nvSpPr>
          <p:cNvPr id="28" name="Text 24"/>
          <p:cNvSpPr/>
          <p:nvPr/>
        </p:nvSpPr>
        <p:spPr>
          <a:xfrm>
            <a:off x="6975091" y="1743968"/>
            <a:ext cx="15045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50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RHYTHM IS THE PRODUCT</a:t>
            </a:r>
            <a:endParaRPr lang="en-US" sz="619" dirty="0"/>
          </a:p>
        </p:txBody>
      </p:sp>
      <p:sp>
        <p:nvSpPr>
          <p:cNvPr id="29" name="Text 25"/>
          <p:cNvSpPr/>
          <p:nvPr/>
        </p:nvSpPr>
        <p:spPr>
          <a:xfrm>
            <a:off x="3836194" y="1992213"/>
            <a:ext cx="4643438" cy="49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continuous signal. A daily pulse. An action loop.</a:t>
            </a:r>
            <a:endParaRPr lang="en-US" sz="1575" dirty="0"/>
          </a:p>
        </p:txBody>
      </p:sp>
      <p:sp>
        <p:nvSpPr>
          <p:cNvPr id="30" name="Shape 26"/>
          <p:cNvSpPr/>
          <p:nvPr/>
        </p:nvSpPr>
        <p:spPr>
          <a:xfrm>
            <a:off x="3836194" y="2555677"/>
            <a:ext cx="4643438" cy="0"/>
          </a:xfrm>
          <a:prstGeom prst="line">
            <a:avLst/>
          </a:prstGeom>
          <a:noFill/>
          <a:ln w="7144">
            <a:solidFill>
              <a:srgbClr val="DDE3F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836194" y="26449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2" name="Text 28"/>
          <p:cNvSpPr/>
          <p:nvPr/>
        </p:nvSpPr>
        <p:spPr>
          <a:xfrm>
            <a:off x="4036219" y="2637830"/>
            <a:ext cx="4443413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Lightweight 60-second daily check-ins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836194" y="288998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4" name="Text 30"/>
          <p:cNvSpPr/>
          <p:nvPr/>
        </p:nvSpPr>
        <p:spPr>
          <a:xfrm>
            <a:off x="4036219" y="2882838"/>
            <a:ext cx="4443413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Continuous, real-time signals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836194" y="313499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6" name="Text 32"/>
          <p:cNvSpPr/>
          <p:nvPr/>
        </p:nvSpPr>
        <p:spPr>
          <a:xfrm>
            <a:off x="4036219" y="3127846"/>
            <a:ext cx="4443413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manager visibility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3836194" y="33799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8" name="Text 34"/>
          <p:cNvSpPr/>
          <p:nvPr/>
        </p:nvSpPr>
        <p:spPr>
          <a:xfrm>
            <a:off x="4036219" y="3372855"/>
            <a:ext cx="4443413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Trend-based insights, not snapshots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3836194" y="362500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0" name="Text 36"/>
          <p:cNvSpPr/>
          <p:nvPr/>
        </p:nvSpPr>
        <p:spPr>
          <a:xfrm>
            <a:off x="4036219" y="3617863"/>
            <a:ext cx="4443413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Proactive action via PulseAgent</a:t>
            </a:r>
            <a:endParaRPr lang="en-US" sz="80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836194" y="4038898"/>
            <a:ext cx="4643438" cy="7144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3836194" y="4131766"/>
            <a:ext cx="46434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WHY THIS NEEDS TO EXIST: THE RHYTHM IS THE PRODUCT.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457200" y="4857750"/>
            <a:ext cx="7889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E1E4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HACKATHON PITCH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8361118" y="48577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TECHNICAL ARCHITECTURE · 08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0075"/>
            <a:ext cx="8636000" cy="3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49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What’s happening under the hood?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457200" y="987177"/>
            <a:ext cx="542925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clean, production-grade stack. No toys, no throwaway prototypes.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60772" y="1303288"/>
            <a:ext cx="4850606" cy="407194"/>
          </a:xfrm>
          <a:prstGeom prst="roundRect">
            <a:avLst>
              <a:gd name="adj" fmla="val 28070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8644" y="1392585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718" y="141365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266" dirty="0"/>
          </a:p>
        </p:txBody>
      </p:sp>
      <p:sp>
        <p:nvSpPr>
          <p:cNvPr id="8" name="Text 6"/>
          <p:cNvSpPr/>
          <p:nvPr/>
        </p:nvSpPr>
        <p:spPr>
          <a:xfrm>
            <a:off x="892969" y="1379079"/>
            <a:ext cx="4300538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2969" y="1523740"/>
            <a:ext cx="4174915" cy="11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60-second daily check-in on the web app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25764" y="1453307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1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878931" y="1714054"/>
            <a:ext cx="14288" cy="100013"/>
          </a:xfrm>
          <a:prstGeom prst="rect">
            <a:avLst/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0772" y="1817638"/>
            <a:ext cx="4850606" cy="407194"/>
          </a:xfrm>
          <a:prstGeom prst="roundRect">
            <a:avLst>
              <a:gd name="adj" fmla="val 28070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8644" y="1906935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E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9718" y="192800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892969" y="1893429"/>
            <a:ext cx="4058945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WEB APP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2969" y="2038090"/>
            <a:ext cx="4174915" cy="11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 + Vite + Tailwind, deployed on Vercel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25764" y="1967657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2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878931" y="2228404"/>
            <a:ext cx="14288" cy="100013"/>
          </a:xfrm>
          <a:prstGeom prst="rect">
            <a:avLst/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0772" y="2331988"/>
            <a:ext cx="4850606" cy="407194"/>
          </a:xfrm>
          <a:prstGeom prst="roundRect">
            <a:avLst>
              <a:gd name="adj" fmla="val 28070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8644" y="2421285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E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9718" y="244235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892969" y="2407779"/>
            <a:ext cx="4300538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 / API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92969" y="2552440"/>
            <a:ext cx="4174915" cy="11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Node.js serverless endpoints, JWT auth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25764" y="2482007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3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878931" y="2742754"/>
            <a:ext cx="14288" cy="100013"/>
          </a:xfrm>
          <a:prstGeom prst="rect">
            <a:avLst/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0772" y="2846338"/>
            <a:ext cx="4850606" cy="407194"/>
          </a:xfrm>
          <a:prstGeom prst="roundRect">
            <a:avLst>
              <a:gd name="adj" fmla="val 28070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78644" y="2935635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E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99718" y="295670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892969" y="2922129"/>
            <a:ext cx="4300538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2969" y="3066790"/>
            <a:ext cx="3865662" cy="11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Supabase / Postgres with row-level privacy isolation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25764" y="2996357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4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878931" y="3257104"/>
            <a:ext cx="14288" cy="100013"/>
          </a:xfrm>
          <a:prstGeom prst="rect">
            <a:avLst/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357116"/>
            <a:ext cx="4857750" cy="41433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464344" y="3364260"/>
            <a:ext cx="4843463" cy="400050"/>
          </a:xfrm>
          <a:prstGeom prst="roundRect">
            <a:avLst>
              <a:gd name="adj" fmla="val 28571"/>
            </a:avLst>
          </a:prstGeom>
          <a:noFill/>
          <a:ln w="14288">
            <a:solidFill>
              <a:srgbClr val="4E6ABF"/>
            </a:solidFill>
            <a:prstDash val="solid"/>
          </a:ln>
          <a:effectLst>
            <a:outerShdw sx="100000" sy="100000" kx="0" ky="0" algn="bl" rotWithShape="0" blurRad="133350" dist="38100" dir="5400000">
              <a:srgbClr val="4E6ABF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85788" y="3449985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06862" y="347105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900113" y="3436590"/>
            <a:ext cx="4224083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4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ANALYTICS + SENTIMENT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900113" y="3581251"/>
            <a:ext cx="4022936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PulseAgent AI: sentiment tagging + engagement index + diagnosis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008773" y="3486275"/>
            <a:ext cx="177589" cy="156020"/>
          </a:xfrm>
          <a:prstGeom prst="roundRect">
            <a:avLst>
              <a:gd name="adj" fmla="val 6098882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008773" y="3494633"/>
            <a:ext cx="17758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5" kern="0" dirty="0">
                <a:solidFill>
                  <a:srgbClr val="F7F7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2878931" y="3771454"/>
            <a:ext cx="14288" cy="100013"/>
          </a:xfrm>
          <a:prstGeom prst="rect">
            <a:avLst/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60772" y="3875038"/>
            <a:ext cx="4850606" cy="407194"/>
          </a:xfrm>
          <a:prstGeom prst="roundRect">
            <a:avLst>
              <a:gd name="adj" fmla="val 28070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78644" y="3964335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99718" y="398540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45" name="Text 42"/>
          <p:cNvSpPr/>
          <p:nvPr/>
        </p:nvSpPr>
        <p:spPr>
          <a:xfrm>
            <a:off x="892969" y="3950829"/>
            <a:ext cx="4058945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 DASHBOARD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92969" y="4095490"/>
            <a:ext cx="4174915" cy="11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trends, alerts, talking points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825764" y="4025057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6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5547122" y="1303288"/>
            <a:ext cx="3136106" cy="3078956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5707856" y="1474738"/>
            <a:ext cx="20197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TECHNOLOGY STACK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719067" y="1455021"/>
            <a:ext cx="826286" cy="168021"/>
          </a:xfrm>
          <a:prstGeom prst="roundRect">
            <a:avLst>
              <a:gd name="adj" fmla="val 5663265"/>
            </a:avLst>
          </a:prstGeom>
          <a:solidFill>
            <a:srgbClr val="EE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7688828" y="1464022"/>
            <a:ext cx="8867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7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COMPONENTS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5711428" y="1717625"/>
            <a:ext cx="1364456" cy="560784"/>
          </a:xfrm>
          <a:prstGeom prst="roundRect">
            <a:avLst>
              <a:gd name="adj" fmla="val 16985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5800725" y="1883718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E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5821799" y="190479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55" name="Text 52"/>
          <p:cNvSpPr/>
          <p:nvPr/>
        </p:nvSpPr>
        <p:spPr>
          <a:xfrm>
            <a:off x="6100763" y="1792635"/>
            <a:ext cx="885825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1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100763" y="1924794"/>
            <a:ext cx="8858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 + Vite + Tailwind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7154466" y="1717625"/>
            <a:ext cx="1364456" cy="560784"/>
          </a:xfrm>
          <a:prstGeom prst="roundRect">
            <a:avLst>
              <a:gd name="adj" fmla="val 16985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7243763" y="1883718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E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7264837" y="190479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60" name="Text 57"/>
          <p:cNvSpPr/>
          <p:nvPr/>
        </p:nvSpPr>
        <p:spPr>
          <a:xfrm>
            <a:off x="7543800" y="1792635"/>
            <a:ext cx="885825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1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7543800" y="1924794"/>
            <a:ext cx="88582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Node.js serverless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5711428" y="2356991"/>
            <a:ext cx="1364456" cy="560784"/>
          </a:xfrm>
          <a:prstGeom prst="roundRect">
            <a:avLst>
              <a:gd name="adj" fmla="val 16985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5800725" y="2523083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E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5821799" y="254415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65" name="Text 62"/>
          <p:cNvSpPr/>
          <p:nvPr/>
        </p:nvSpPr>
        <p:spPr>
          <a:xfrm>
            <a:off x="6100763" y="2432000"/>
            <a:ext cx="885825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1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6100763" y="2564160"/>
            <a:ext cx="88582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Supabase / Postgres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7154466" y="2356991"/>
            <a:ext cx="1364456" cy="560784"/>
          </a:xfrm>
          <a:prstGeom prst="roundRect">
            <a:avLst>
              <a:gd name="adj" fmla="val 16985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7243763" y="2523083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E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6"/>
          <p:cNvSpPr/>
          <p:nvPr/>
        </p:nvSpPr>
        <p:spPr>
          <a:xfrm>
            <a:off x="7264837" y="254415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70" name="Text 67"/>
          <p:cNvSpPr/>
          <p:nvPr/>
        </p:nvSpPr>
        <p:spPr>
          <a:xfrm>
            <a:off x="7543800" y="2432000"/>
            <a:ext cx="885825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31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AUTHENTICATION</a:t>
            </a:r>
            <a:endParaRPr lang="en-US" sz="619" dirty="0"/>
          </a:p>
        </p:txBody>
      </p:sp>
      <p:sp>
        <p:nvSpPr>
          <p:cNvPr id="71" name="Text 68"/>
          <p:cNvSpPr/>
          <p:nvPr/>
        </p:nvSpPr>
        <p:spPr>
          <a:xfrm>
            <a:off x="7543800" y="2564160"/>
            <a:ext cx="88582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JWT + Supabase Auth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5711428" y="2996357"/>
            <a:ext cx="1364456" cy="700088"/>
          </a:xfrm>
          <a:prstGeom prst="roundRect">
            <a:avLst>
              <a:gd name="adj" fmla="val 13605"/>
            </a:avLst>
          </a:prstGeom>
          <a:solidFill>
            <a:srgbClr val="EEF1FA"/>
          </a:solidFill>
          <a:ln w="7144">
            <a:solidFill>
              <a:srgbClr val="4E6A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0"/>
          <p:cNvSpPr/>
          <p:nvPr/>
        </p:nvSpPr>
        <p:spPr>
          <a:xfrm>
            <a:off x="5800725" y="32321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5821799" y="325317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75" name="Text 72"/>
          <p:cNvSpPr/>
          <p:nvPr/>
        </p:nvSpPr>
        <p:spPr>
          <a:xfrm>
            <a:off x="6100763" y="3071366"/>
            <a:ext cx="885825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1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/ ML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6100763" y="3203525"/>
            <a:ext cx="88582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PulseAgent reasoning engine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7154466" y="2996357"/>
            <a:ext cx="1364456" cy="700088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7243763" y="32321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E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6"/>
          <p:cNvSpPr/>
          <p:nvPr/>
        </p:nvSpPr>
        <p:spPr>
          <a:xfrm>
            <a:off x="7264837" y="325317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80" name="Text 77"/>
          <p:cNvSpPr/>
          <p:nvPr/>
        </p:nvSpPr>
        <p:spPr>
          <a:xfrm>
            <a:off x="7543800" y="3141018"/>
            <a:ext cx="885825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1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REALTIME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7543800" y="3273177"/>
            <a:ext cx="8858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Supabase Realtime API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5711428" y="3775025"/>
            <a:ext cx="2807494" cy="492919"/>
          </a:xfrm>
          <a:prstGeom prst="roundRect">
            <a:avLst>
              <a:gd name="adj" fmla="val 19324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0"/>
          <p:cNvSpPr/>
          <p:nvPr/>
        </p:nvSpPr>
        <p:spPr>
          <a:xfrm>
            <a:off x="5800725" y="3907185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E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1"/>
          <p:cNvSpPr/>
          <p:nvPr/>
        </p:nvSpPr>
        <p:spPr>
          <a:xfrm>
            <a:off x="5821799" y="392825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266" dirty="0"/>
          </a:p>
        </p:txBody>
      </p:sp>
      <p:sp>
        <p:nvSpPr>
          <p:cNvPr id="85" name="Text 82"/>
          <p:cNvSpPr/>
          <p:nvPr/>
        </p:nvSpPr>
        <p:spPr>
          <a:xfrm>
            <a:off x="6100763" y="3885754"/>
            <a:ext cx="2328863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1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6100763" y="4017913"/>
            <a:ext cx="20952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Vercel (Edge runtime)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8153576" y="3967907"/>
            <a:ext cx="290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600" dirty="0"/>
          </a:p>
        </p:txBody>
      </p:sp>
      <p:sp>
        <p:nvSpPr>
          <p:cNvPr id="88" name="Shape 85"/>
          <p:cNvSpPr/>
          <p:nvPr/>
        </p:nvSpPr>
        <p:spPr>
          <a:xfrm>
            <a:off x="5707856" y="4360813"/>
            <a:ext cx="2814638" cy="0"/>
          </a:xfrm>
          <a:prstGeom prst="line">
            <a:avLst/>
          </a:prstGeom>
          <a:noFill/>
          <a:ln w="7144">
            <a:solidFill>
              <a:srgbClr val="E1E4EA"/>
            </a:solidFill>
            <a:prstDash val="dash"/>
          </a:ln>
        </p:spPr>
      </p:sp>
      <p:sp>
        <p:nvSpPr>
          <p:cNvPr id="89" name="Text 86"/>
          <p:cNvSpPr/>
          <p:nvPr/>
        </p:nvSpPr>
        <p:spPr>
          <a:xfrm>
            <a:off x="5707856" y="4435822"/>
            <a:ext cx="281463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i="1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 technologies actually used in the live build. No resume padding.</a:t>
            </a:r>
            <a:endParaRPr lang="en-US" sz="619" dirty="0"/>
          </a:p>
        </p:txBody>
      </p:sp>
      <p:sp>
        <p:nvSpPr>
          <p:cNvPr id="90" name="Text 87"/>
          <p:cNvSpPr/>
          <p:nvPr/>
        </p:nvSpPr>
        <p:spPr>
          <a:xfrm>
            <a:off x="457200" y="4857750"/>
            <a:ext cx="7889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E1E4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HACKATHON PITCH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8361118" y="48577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TECHNICAL EXECUTION · 09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0075"/>
            <a:ext cx="8636000" cy="34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3" b="1" spc="-47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to work, not just to look good.</a:t>
            </a:r>
            <a:endParaRPr lang="en-US" sz="2363" dirty="0"/>
          </a:p>
        </p:txBody>
      </p:sp>
      <p:sp>
        <p:nvSpPr>
          <p:cNvPr id="4" name="Text 2"/>
          <p:cNvSpPr/>
          <p:nvPr/>
        </p:nvSpPr>
        <p:spPr>
          <a:xfrm>
            <a:off x="457200" y="972220"/>
            <a:ext cx="528637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engineering, deployed and live. Each capability below is implemented and running.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60772" y="1288331"/>
            <a:ext cx="2669307" cy="764381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8644" y="1391915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EE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5789" y="140906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35819" y="1416918"/>
            <a:ext cx="9734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Authentication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58852" y="1438349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78644" y="1649090"/>
            <a:ext cx="2433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JWT + Supabase Auth, password reset, employee/manager/HR roles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37235" y="1288331"/>
            <a:ext cx="2669418" cy="764381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55107" y="1391915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EE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72252" y="140906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612282" y="1416918"/>
            <a:ext cx="8666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Storage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35427" y="1438349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5107" y="1649090"/>
            <a:ext cx="24336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Supabase / Postgres, row-level security, organisation isolation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13810" y="1288331"/>
            <a:ext cx="2669307" cy="764381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31682" y="1391915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EAF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48827" y="140906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F7A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388857" y="1416918"/>
            <a:ext cx="6975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Roles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11890" y="1438349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31682" y="1649090"/>
            <a:ext cx="2433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Employee, Manager, HR — each with scoped dashboards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772" y="2159868"/>
            <a:ext cx="2669307" cy="764381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8644" y="2263453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EE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5789" y="228059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835819" y="2288456"/>
            <a:ext cx="9959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Integration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58852" y="2309887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8644" y="2520628"/>
            <a:ext cx="2433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Slack webhook delivery with autonomous failover to email queue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37235" y="2159868"/>
            <a:ext cx="2669418" cy="764381"/>
          </a:xfrm>
          <a:prstGeom prst="roundRect">
            <a:avLst>
              <a:gd name="adj" fmla="val 14953"/>
            </a:avLst>
          </a:prstGeom>
          <a:solidFill>
            <a:srgbClr val="EEF1FA"/>
          </a:solidFill>
          <a:ln w="7144">
            <a:solidFill>
              <a:srgbClr val="4E6ABF"/>
            </a:solidFill>
            <a:prstDash val="solid"/>
          </a:ln>
          <a:effectLst>
            <a:outerShdw sx="100000" sy="100000" kx="0" ky="0" algn="bl" rotWithShape="0" blurRad="133350" dist="38100" dir="5400000">
              <a:srgbClr val="4E6ABF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55107" y="2263453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72252" y="228059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3612282" y="2288456"/>
            <a:ext cx="13611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4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Scoring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00220" y="2285455"/>
            <a:ext cx="199535" cy="156020"/>
          </a:xfrm>
          <a:prstGeom prst="roundRect">
            <a:avLst>
              <a:gd name="adj" fmla="val 6098882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11192" y="2293813"/>
            <a:ext cx="17758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5" kern="0" dirty="0">
                <a:solidFill>
                  <a:srgbClr val="F7F7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5107" y="2520628"/>
            <a:ext cx="24336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Deterministic index from workload, manager support, collaboration, motivation, stress balance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13810" y="2159868"/>
            <a:ext cx="2669307" cy="764381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31682" y="2263453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FFF6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148827" y="228059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6388857" y="2288456"/>
            <a:ext cx="6553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Analytics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11890" y="2309887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31682" y="2520628"/>
            <a:ext cx="2433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Weekly trends, sentiment distribution, check-in rate, stress level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0772" y="3031406"/>
            <a:ext cx="2669307" cy="764381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78644" y="3134990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95789" y="3152135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835819" y="3159993"/>
            <a:ext cx="14341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Sentiment Processing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958852" y="318142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78644" y="3392165"/>
            <a:ext cx="2433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PulseAgent tags free-text comments and surfaces team-level signals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37235" y="3031406"/>
            <a:ext cx="2669418" cy="764381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355107" y="3134990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EE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372252" y="3152135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3612282" y="3159993"/>
            <a:ext cx="9252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Responsive UI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35427" y="318142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355107" y="3392165"/>
            <a:ext cx="24336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Mobile-first, works on any device, no app install required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013810" y="3031406"/>
            <a:ext cx="2669307" cy="764381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131682" y="3134990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EAF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148827" y="3152135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F7A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6388857" y="3159993"/>
            <a:ext cx="7931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4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289195" y="3181424"/>
            <a:ext cx="290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6131682" y="3392165"/>
            <a:ext cx="2433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on Vercel with Edge runtime, HTTPS, automatic deploys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57200" y="3913659"/>
            <a:ext cx="66050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DATA PATH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076554" y="3919017"/>
            <a:ext cx="17390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CHECK-IN → ACTION IN ~60 SECONDS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460772" y="4092253"/>
            <a:ext cx="8222456" cy="392906"/>
          </a:xfrm>
          <a:prstGeom prst="roundRect">
            <a:avLst>
              <a:gd name="adj" fmla="val 24242"/>
            </a:avLst>
          </a:prstGeom>
          <a:solidFill>
            <a:srgbClr val="FAFAFA"/>
          </a:solidFill>
          <a:ln w="7144">
            <a:solidFill>
              <a:srgbClr val="E1E4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92931" y="4168748"/>
            <a:ext cx="966974" cy="239916"/>
          </a:xfrm>
          <a:prstGeom prst="roundRect">
            <a:avLst>
              <a:gd name="adj" fmla="val 31761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91020" y="4234235"/>
            <a:ext cx="820826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Check-in form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85800" y="4242271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914" dirty="0"/>
          </a:p>
        </p:txBody>
      </p:sp>
      <p:sp>
        <p:nvSpPr>
          <p:cNvPr id="66" name="Text 64"/>
          <p:cNvSpPr/>
          <p:nvPr/>
        </p:nvSpPr>
        <p:spPr>
          <a:xfrm>
            <a:off x="1602767" y="42315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67" name="Text 65"/>
          <p:cNvSpPr/>
          <p:nvPr/>
        </p:nvSpPr>
        <p:spPr>
          <a:xfrm>
            <a:off x="1759930" y="4168748"/>
            <a:ext cx="1040420" cy="239916"/>
          </a:xfrm>
          <a:prstGeom prst="roundRect">
            <a:avLst>
              <a:gd name="adj" fmla="val 31761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1988530" y="4234235"/>
            <a:ext cx="833251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Supabase write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852799" y="4242271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⤓</a:t>
            </a:r>
            <a:endParaRPr lang="en-US" sz="914" dirty="0"/>
          </a:p>
        </p:txBody>
      </p:sp>
      <p:sp>
        <p:nvSpPr>
          <p:cNvPr id="70" name="Text 68"/>
          <p:cNvSpPr/>
          <p:nvPr/>
        </p:nvSpPr>
        <p:spPr>
          <a:xfrm>
            <a:off x="2843213" y="42315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71" name="Text 69"/>
          <p:cNvSpPr/>
          <p:nvPr/>
        </p:nvSpPr>
        <p:spPr>
          <a:xfrm>
            <a:off x="3000375" y="4168748"/>
            <a:ext cx="1186755" cy="239916"/>
          </a:xfrm>
          <a:prstGeom prst="roundRect">
            <a:avLst>
              <a:gd name="adj" fmla="val 31761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3228975" y="4234235"/>
            <a:ext cx="979587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index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093244" y="4242271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74" name="Text 72"/>
          <p:cNvSpPr/>
          <p:nvPr/>
        </p:nvSpPr>
        <p:spPr>
          <a:xfrm>
            <a:off x="4229993" y="42315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75" name="Text 73"/>
          <p:cNvSpPr/>
          <p:nvPr/>
        </p:nvSpPr>
        <p:spPr>
          <a:xfrm>
            <a:off x="4387155" y="4168748"/>
            <a:ext cx="983493" cy="239916"/>
          </a:xfrm>
          <a:prstGeom prst="roundRect">
            <a:avLst>
              <a:gd name="adj" fmla="val 31761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4589309" y="4234235"/>
            <a:ext cx="829219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Sentiment tag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480024" y="4242271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78" name="Text 76"/>
          <p:cNvSpPr/>
          <p:nvPr/>
        </p:nvSpPr>
        <p:spPr>
          <a:xfrm>
            <a:off x="5413511" y="42315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79" name="Text 77"/>
          <p:cNvSpPr/>
          <p:nvPr/>
        </p:nvSpPr>
        <p:spPr>
          <a:xfrm>
            <a:off x="5570674" y="4168748"/>
            <a:ext cx="1358652" cy="239916"/>
          </a:xfrm>
          <a:prstGeom prst="roundRect">
            <a:avLst>
              <a:gd name="adj" fmla="val 31761"/>
            </a:avLst>
          </a:prstGeom>
          <a:solidFill>
            <a:srgbClr val="EEF1FA"/>
          </a:solidFill>
          <a:ln w="7144">
            <a:solidFill>
              <a:srgbClr val="DDE3F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5799274" y="4234235"/>
            <a:ext cx="1151483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Team aggregate (n≥3)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663543" y="4242271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914" dirty="0"/>
          </a:p>
        </p:txBody>
      </p:sp>
      <p:sp>
        <p:nvSpPr>
          <p:cNvPr id="82" name="Text 80"/>
          <p:cNvSpPr/>
          <p:nvPr/>
        </p:nvSpPr>
        <p:spPr>
          <a:xfrm>
            <a:off x="6972188" y="42315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83" name="Text 81"/>
          <p:cNvSpPr/>
          <p:nvPr/>
        </p:nvSpPr>
        <p:spPr>
          <a:xfrm>
            <a:off x="7129351" y="4168748"/>
            <a:ext cx="1247924" cy="239916"/>
          </a:xfrm>
          <a:prstGeom prst="roundRect">
            <a:avLst>
              <a:gd name="adj" fmla="val 31761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7357951" y="4234235"/>
            <a:ext cx="1040755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 dashboard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222220" y="4242271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14" dirty="0"/>
          </a:p>
        </p:txBody>
      </p:sp>
      <p:sp>
        <p:nvSpPr>
          <p:cNvPr id="86" name="Text 84"/>
          <p:cNvSpPr/>
          <p:nvPr/>
        </p:nvSpPr>
        <p:spPr>
          <a:xfrm>
            <a:off x="8420137" y="42315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4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87" name="Text 85"/>
          <p:cNvSpPr/>
          <p:nvPr/>
        </p:nvSpPr>
        <p:spPr>
          <a:xfrm>
            <a:off x="8577300" y="4168748"/>
            <a:ext cx="1163985" cy="239916"/>
          </a:xfrm>
          <a:prstGeom prst="roundRect">
            <a:avLst>
              <a:gd name="adj" fmla="val 31761"/>
            </a:avLst>
          </a:prstGeom>
          <a:solidFill>
            <a:srgbClr val="344A91"/>
          </a:solidFill>
          <a:ln w="7144">
            <a:solidFill>
              <a:srgbClr val="344A9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8805900" y="4234235"/>
            <a:ext cx="91440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PulseAgent action</a:t>
            </a:r>
            <a:endParaRPr lang="en-US" sz="647" dirty="0"/>
          </a:p>
        </p:txBody>
      </p:sp>
      <p:sp>
        <p:nvSpPr>
          <p:cNvPr id="89" name="Text 87"/>
          <p:cNvSpPr/>
          <p:nvPr/>
        </p:nvSpPr>
        <p:spPr>
          <a:xfrm>
            <a:off x="8670168" y="4242271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14" dirty="0"/>
          </a:p>
        </p:txBody>
      </p:sp>
      <p:sp>
        <p:nvSpPr>
          <p:cNvPr id="90" name="Text 88"/>
          <p:cNvSpPr/>
          <p:nvPr/>
        </p:nvSpPr>
        <p:spPr>
          <a:xfrm>
            <a:off x="457200" y="4857750"/>
            <a:ext cx="7889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E1E4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HACKATHON PITCH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361118" y="48577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42913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00050"/>
            <a:ext cx="8115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PRIVACY-FIRST · 10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8650"/>
            <a:ext cx="6286500" cy="76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5"/>
              </a:lnSpc>
              <a:buNone/>
            </a:pPr>
            <a:r>
              <a:rPr lang="en-US" sz="2588" b="1" spc="-65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 analytics shouldn’t become people surveillance.</a:t>
            </a:r>
            <a:endParaRPr lang="en-US" sz="2588" dirty="0"/>
          </a:p>
        </p:txBody>
      </p:sp>
      <p:sp>
        <p:nvSpPr>
          <p:cNvPr id="5" name="Text 3"/>
          <p:cNvSpPr/>
          <p:nvPr/>
        </p:nvSpPr>
        <p:spPr>
          <a:xfrm>
            <a:off x="457200" y="1424062"/>
            <a:ext cx="542925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Privacy is a feature, not a setting. It is enforced at the database level — not just promised in a policy.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0" y="1966987"/>
            <a:ext cx="1714500" cy="2000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1594" y="1974131"/>
            <a:ext cx="1700213" cy="1985963"/>
          </a:xfrm>
          <a:prstGeom prst="roundRect">
            <a:avLst>
              <a:gd name="adj" fmla="val 53781"/>
            </a:avLst>
          </a:prstGeom>
          <a:noFill/>
          <a:ln w="14288">
            <a:solidFill>
              <a:srgbClr val="4E6ABF"/>
            </a:solidFill>
            <a:prstDash val="solid"/>
          </a:ln>
          <a:effectLst>
            <a:outerShdw sx="100000" sy="100000" kx="0" ky="0" algn="bl" rotWithShape="0" blurRad="381000" dist="171450" dir="5400000">
              <a:srgbClr val="4E6ABF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674495" y="2469907"/>
            <a:ext cx="994410" cy="994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990307" y="4095824"/>
            <a:ext cx="2362675" cy="151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spc="63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ANONYMOUS PRIVACY GUARANTEE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388120" y="4274418"/>
            <a:ext cx="156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i="1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Irreversible at the database layer.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669838" y="4490217"/>
            <a:ext cx="1496169" cy="239916"/>
          </a:xfrm>
          <a:prstGeom prst="roundRect">
            <a:avLst>
              <a:gd name="adj" fmla="val 3966169"/>
            </a:avLst>
          </a:prstGeom>
          <a:solidFill>
            <a:srgbClr val="EAF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69838" y="4503018"/>
            <a:ext cx="14961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0" kern="0" dirty="0">
                <a:solidFill>
                  <a:srgbClr val="3F7A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 ≥ 3 AGGREGATION RULE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223157" y="4490217"/>
            <a:ext cx="1450293" cy="239916"/>
          </a:xfrm>
          <a:prstGeom prst="roundRect">
            <a:avLst>
              <a:gd name="adj" fmla="val 3966169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23157" y="4503018"/>
            <a:ext cx="14502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0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ANONYMOUS BY DEFAULT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118372" y="2175495"/>
            <a:ext cx="4421981" cy="706338"/>
          </a:xfrm>
          <a:prstGeom prst="roundRect">
            <a:avLst>
              <a:gd name="adj" fmla="val 18879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279106" y="2307654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EAF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300180" y="232872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F7A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4622006" y="2307654"/>
            <a:ext cx="3867341" cy="145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Meaningful signals, not constant monitoring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622006" y="2480444"/>
            <a:ext cx="375761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60-second pulse per day. No keystrokes, no location, no behaviour tracking. Ever.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118372" y="2988990"/>
            <a:ext cx="4421981" cy="706338"/>
          </a:xfrm>
          <a:prstGeom prst="roundRect">
            <a:avLst>
              <a:gd name="adj" fmla="val 18879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279106" y="3121149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300180" y="314222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4622006" y="3121149"/>
            <a:ext cx="3867341" cy="145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 trust, not surveillance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22006" y="3293938"/>
            <a:ext cx="375761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Names are detached from submissions before they hit the database. Anonymous submissions cannot be deanonymized — in the database or in logs.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118372" y="3802484"/>
            <a:ext cx="4421981" cy="706338"/>
          </a:xfrm>
          <a:prstGeom prst="roundRect">
            <a:avLst>
              <a:gd name="adj" fmla="val 18879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279106" y="3934644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FFF6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300180" y="395571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4622006" y="3934644"/>
            <a:ext cx="3867341" cy="145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Actionable insights, not unnecessary data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622006" y="4107433"/>
            <a:ext cx="375761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Team-level insights unlock only when n ≥ 3 check-ins are received. Below that threshold, comments stay locked.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57200" y="4857750"/>
            <a:ext cx="7889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· HACKATHON PITCH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361118" y="48577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42913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00050"/>
            <a:ext cx="8115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IMPACT · 11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8650"/>
            <a:ext cx="8636000" cy="399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16"/>
              </a:lnSpc>
              <a:buNone/>
            </a:pPr>
            <a:r>
              <a:rPr lang="en-US" sz="2700" b="1" spc="-67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does PeoplePulse matter?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070335"/>
            <a:ext cx="528637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signal moves from the individual to the organisation — without ever exposing the individual.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0772" y="1631119"/>
            <a:ext cx="1953816" cy="1707356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791853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6509" y="181685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621506" y="2163328"/>
            <a:ext cx="1632347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spc="36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EARLIER SIGNALS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506" y="2366144"/>
            <a:ext cx="1632347" cy="296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Issues surface in days, not quarters.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506" y="2937756"/>
            <a:ext cx="163234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Managers see drift before it becomes damage.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50319" y="1631119"/>
            <a:ext cx="1953816" cy="1707356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11053" y="1791853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EAF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36056" y="181685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F7A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2711053" y="2163328"/>
            <a:ext cx="1632347" cy="28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spc="36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BETTER MANAGER CONVERSATIONS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11053" y="2497522"/>
            <a:ext cx="1632347" cy="296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1:1s start from data, not guesswork.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11053" y="2937756"/>
            <a:ext cx="163234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PulseAgent drafts 3 talking points for every check-in.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39866" y="1631119"/>
            <a:ext cx="1953816" cy="1707356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00600" y="1791853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FFF6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5603" y="181685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21" name="Text 19"/>
          <p:cNvSpPr/>
          <p:nvPr/>
        </p:nvSpPr>
        <p:spPr>
          <a:xfrm>
            <a:off x="4800600" y="2163328"/>
            <a:ext cx="1632347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spc="36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HR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2366144"/>
            <a:ext cx="1632347" cy="296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 acts on trends, not anecdotes.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00600" y="2937756"/>
            <a:ext cx="163234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Sentiment, engagement, stress — privacy-safe at org level.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29413" y="1631119"/>
            <a:ext cx="1953816" cy="1707356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90147" y="1791853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EAF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915150" y="181685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406" dirty="0"/>
          </a:p>
        </p:txBody>
      </p:sp>
      <p:sp>
        <p:nvSpPr>
          <p:cNvPr id="27" name="Text 25"/>
          <p:cNvSpPr/>
          <p:nvPr/>
        </p:nvSpPr>
        <p:spPr>
          <a:xfrm>
            <a:off x="6890147" y="2163328"/>
            <a:ext cx="1632347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spc="36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HEALTHIER TEAMS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90147" y="2366144"/>
            <a:ext cx="1632347" cy="296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Workload and wellbeing stay visible.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90147" y="2937756"/>
            <a:ext cx="163234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Sustained engagement, sustained trust.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8016" y="3499210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IMPACT FLOWS THROUGH THE ORGANIZATION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3688519"/>
            <a:ext cx="8229600" cy="439341"/>
          </a:xfrm>
          <a:prstGeom prst="roundRect">
            <a:avLst>
              <a:gd name="adj" fmla="val 26016"/>
            </a:avLst>
          </a:prstGeom>
          <a:solidFill>
            <a:srgbClr val="EE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754362" y="3775730"/>
            <a:ext cx="723193" cy="264919"/>
          </a:xfrm>
          <a:prstGeom prst="roundRect">
            <a:avLst>
              <a:gd name="adj" fmla="val 359184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754362" y="3788532"/>
            <a:ext cx="72319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577568" y="38438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3806168" y="3775730"/>
            <a:ext cx="673522" cy="264919"/>
          </a:xfrm>
          <a:prstGeom prst="roundRect">
            <a:avLst>
              <a:gd name="adj" fmla="val 359184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806168" y="3788532"/>
            <a:ext cx="67352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9702" y="38438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4808302" y="3775730"/>
            <a:ext cx="363550" cy="264919"/>
          </a:xfrm>
          <a:prstGeom prst="roundRect">
            <a:avLst>
              <a:gd name="adj" fmla="val 359184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08302" y="3788532"/>
            <a:ext cx="363550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71864" y="38438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41" name="Text 39"/>
          <p:cNvSpPr/>
          <p:nvPr/>
        </p:nvSpPr>
        <p:spPr>
          <a:xfrm>
            <a:off x="5500464" y="3775730"/>
            <a:ext cx="889062" cy="264919"/>
          </a:xfrm>
          <a:prstGeom prst="roundRect">
            <a:avLst>
              <a:gd name="adj" fmla="val 359184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500464" y="3788532"/>
            <a:ext cx="88906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Organization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4199297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i="1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invented statistics. Impact is structural — the signal simply arrives earlier.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4857750"/>
            <a:ext cx="7889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· HACKATHON PITCH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361118" y="48577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42913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00050"/>
            <a:ext cx="8115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SCALABILITY · 12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8650"/>
            <a:ext cx="8636000" cy="38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5"/>
              </a:lnSpc>
              <a:buNone/>
            </a:pPr>
            <a:r>
              <a:rPr lang="en-US" sz="2588" b="1" spc="-65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for one team. Designed to scale.</a:t>
            </a:r>
            <a:endParaRPr lang="en-US" sz="2588" dirty="0"/>
          </a:p>
        </p:txBody>
      </p:sp>
      <p:sp>
        <p:nvSpPr>
          <p:cNvPr id="5" name="Text 3"/>
          <p:cNvSpPr/>
          <p:nvPr/>
        </p:nvSpPr>
        <p:spPr>
          <a:xfrm>
            <a:off x="457200" y="1054931"/>
            <a:ext cx="5143500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data model and the privacy rule already generalise beyond one team — the product is ready to grow.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60772" y="1579997"/>
            <a:ext cx="3707606" cy="474166"/>
          </a:xfrm>
          <a:prstGeom prst="roundRect">
            <a:avLst>
              <a:gd name="adj" fmla="val 24105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2931" y="1717067"/>
            <a:ext cx="200025" cy="200025"/>
          </a:xfrm>
          <a:prstGeom prst="roundRect">
            <a:avLst>
              <a:gd name="adj" fmla="val 475714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2931" y="1717067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2969" y="1683581"/>
            <a:ext cx="3143250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TEAM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92969" y="1834939"/>
            <a:ext cx="2781821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675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today — a single team, daily check-ins, manager dashboard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2250281" y="21005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632222" y="2275619"/>
            <a:ext cx="3421856" cy="589806"/>
          </a:xfrm>
          <a:prstGeom prst="roundRect">
            <a:avLst>
              <a:gd name="adj" fmla="val 19379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4381" y="2470510"/>
            <a:ext cx="200025" cy="200025"/>
          </a:xfrm>
          <a:prstGeom prst="roundRect">
            <a:avLst>
              <a:gd name="adj" fmla="val 475714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4381" y="2470510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64419" y="2379204"/>
            <a:ext cx="2857500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4419" y="2530562"/>
            <a:ext cx="2857500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Multi-team comparison, cross-team sentiment, department-level trends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36006" y="291185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803672" y="3086881"/>
            <a:ext cx="3136106" cy="589806"/>
          </a:xfrm>
          <a:prstGeom prst="roundRect">
            <a:avLst>
              <a:gd name="adj" fmla="val 19379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5831" y="3281772"/>
            <a:ext cx="200025" cy="200025"/>
          </a:xfrm>
          <a:prstGeom prst="roundRect">
            <a:avLst>
              <a:gd name="adj" fmla="val 475714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35831" y="3281772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35869" y="3190466"/>
            <a:ext cx="2571750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ORGANIZATION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35869" y="3341824"/>
            <a:ext cx="2571750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Org-wide engagement index, HR dashboard, privacy-safe aggregates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21731" y="37231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975122" y="3898143"/>
            <a:ext cx="2850356" cy="589806"/>
          </a:xfrm>
          <a:prstGeom prst="roundRect">
            <a:avLst>
              <a:gd name="adj" fmla="val 19379"/>
            </a:avLst>
          </a:prstGeom>
          <a:solidFill>
            <a:srgbClr val="EEF1FA"/>
          </a:solidFill>
          <a:ln w="7144">
            <a:solidFill>
              <a:srgbClr val="DDE3F4"/>
            </a:solidFill>
            <a:prstDash val="solid"/>
          </a:ln>
          <a:effectLst>
            <a:outerShdw sx="100000" sy="100000" kx="0" ky="0" algn="bl" rotWithShape="0" blurRad="381000" dist="171450" dir="5400000">
              <a:srgbClr val="4E6ABF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07281" y="4093034"/>
            <a:ext cx="200025" cy="200025"/>
          </a:xfrm>
          <a:prstGeom prst="roundRect">
            <a:avLst>
              <a:gd name="adj" fmla="val 4757143"/>
            </a:avLst>
          </a:prstGeom>
          <a:solidFill>
            <a:srgbClr val="344A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07281" y="4093034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07319" y="4001728"/>
            <a:ext cx="2286000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MULTIPLE ORGANIZATIONS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07319" y="4153086"/>
            <a:ext cx="2286000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Multi-tenant SaaS, organisation isolation, billing, admin console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18497" y="1579997"/>
            <a:ext cx="3136106" cy="2392375"/>
          </a:xfrm>
          <a:prstGeom prst="roundRect">
            <a:avLst>
              <a:gd name="adj" fmla="val 6370"/>
            </a:avLst>
          </a:prstGeom>
          <a:solidFill>
            <a:srgbClr val="EEF1FA"/>
          </a:solidFill>
          <a:ln w="7144">
            <a:solidFill>
              <a:srgbClr val="DDE3F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56371" y="1727929"/>
            <a:ext cx="1219974" cy="239916"/>
          </a:xfrm>
          <a:prstGeom prst="roundRect">
            <a:avLst>
              <a:gd name="adj" fmla="val 3966169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79231" y="1740731"/>
            <a:ext cx="11742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0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FUTURE · ROADMAP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79231" y="2055056"/>
            <a:ext cx="292436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PeoplePulse plugs in.</a:t>
            </a:r>
            <a:endParaRPr lang="en-US" sz="1013" dirty="0"/>
          </a:p>
        </p:txBody>
      </p:sp>
      <p:sp>
        <p:nvSpPr>
          <p:cNvPr id="33" name="Text 31"/>
          <p:cNvSpPr/>
          <p:nvPr/>
        </p:nvSpPr>
        <p:spPr>
          <a:xfrm>
            <a:off x="5279231" y="2331576"/>
            <a:ext cx="1371600" cy="325641"/>
          </a:xfrm>
          <a:prstGeom prst="roundRect">
            <a:avLst>
              <a:gd name="adj" fmla="val 29250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75672" y="2412243"/>
            <a:ext cx="164306" cy="164306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85316" y="2421888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36" name="Text 34"/>
          <p:cNvSpPr/>
          <p:nvPr/>
        </p:nvSpPr>
        <p:spPr>
          <a:xfrm>
            <a:off x="5614988" y="2424745"/>
            <a:ext cx="9429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HRMS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22269" y="2331576"/>
            <a:ext cx="1371600" cy="325641"/>
          </a:xfrm>
          <a:prstGeom prst="roundRect">
            <a:avLst>
              <a:gd name="adj" fmla="val 29250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818709" y="2412243"/>
            <a:ext cx="164306" cy="164306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28353" y="2421888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984" dirty="0"/>
          </a:p>
        </p:txBody>
      </p:sp>
      <p:sp>
        <p:nvSpPr>
          <p:cNvPr id="40" name="Text 38"/>
          <p:cNvSpPr/>
          <p:nvPr/>
        </p:nvSpPr>
        <p:spPr>
          <a:xfrm>
            <a:off x="7058025" y="2424745"/>
            <a:ext cx="9429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Slack / Teams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82803" y="2719425"/>
            <a:ext cx="1364456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375672" y="2837297"/>
            <a:ext cx="164306" cy="164306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385316" y="2846941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984" dirty="0"/>
          </a:p>
        </p:txBody>
      </p:sp>
      <p:sp>
        <p:nvSpPr>
          <p:cNvPr id="44" name="Text 42"/>
          <p:cNvSpPr/>
          <p:nvPr/>
        </p:nvSpPr>
        <p:spPr>
          <a:xfrm>
            <a:off x="5614988" y="2849798"/>
            <a:ext cx="9429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Payroll systems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25841" y="2719425"/>
            <a:ext cx="1364456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818709" y="2837297"/>
            <a:ext cx="164306" cy="164306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828353" y="2846941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984" dirty="0"/>
          </a:p>
        </p:txBody>
      </p:sp>
      <p:sp>
        <p:nvSpPr>
          <p:cNvPr id="48" name="Text 46"/>
          <p:cNvSpPr/>
          <p:nvPr/>
        </p:nvSpPr>
        <p:spPr>
          <a:xfrm>
            <a:off x="7058025" y="2780147"/>
            <a:ext cx="94297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systems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82803" y="3198056"/>
            <a:ext cx="1364456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375672" y="3315928"/>
            <a:ext cx="164306" cy="164306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385316" y="3325572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984" dirty="0"/>
          </a:p>
        </p:txBody>
      </p:sp>
      <p:sp>
        <p:nvSpPr>
          <p:cNvPr id="52" name="Text 50"/>
          <p:cNvSpPr/>
          <p:nvPr/>
        </p:nvSpPr>
        <p:spPr>
          <a:xfrm>
            <a:off x="5614988" y="3328429"/>
            <a:ext cx="9429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 app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725841" y="3198056"/>
            <a:ext cx="1364456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818709" y="3315928"/>
            <a:ext cx="164306" cy="164306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7144">
            <a:solidFill>
              <a:srgbClr val="E6E7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828353" y="3325572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44A9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984" dirty="0"/>
          </a:p>
        </p:txBody>
      </p:sp>
      <p:sp>
        <p:nvSpPr>
          <p:cNvPr id="56" name="Text 54"/>
          <p:cNvSpPr/>
          <p:nvPr/>
        </p:nvSpPr>
        <p:spPr>
          <a:xfrm>
            <a:off x="7058025" y="3258778"/>
            <a:ext cx="94297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Advanced analytics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279231" y="3701690"/>
            <a:ext cx="281463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i="1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items below are future roadmap — not yet shipped.</a:t>
            </a:r>
            <a:endParaRPr lang="en-US" sz="619" dirty="0"/>
          </a:p>
        </p:txBody>
      </p:sp>
      <p:sp>
        <p:nvSpPr>
          <p:cNvPr id="58" name="Text 56"/>
          <p:cNvSpPr/>
          <p:nvPr/>
        </p:nvSpPr>
        <p:spPr>
          <a:xfrm>
            <a:off x="457200" y="4857750"/>
            <a:ext cx="7889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· HACKATHON PITCH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361118" y="48577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42913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00050"/>
            <a:ext cx="8115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ROADMAP · 13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8650"/>
            <a:ext cx="8636000" cy="38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5"/>
              </a:lnSpc>
              <a:buNone/>
            </a:pPr>
            <a:r>
              <a:rPr lang="en-US" sz="2588" b="1" spc="-65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What’s next for PeoplePulse?</a:t>
            </a:r>
            <a:endParaRPr lang="en-US" sz="2588" dirty="0"/>
          </a:p>
        </p:txBody>
      </p:sp>
      <p:sp>
        <p:nvSpPr>
          <p:cNvPr id="5" name="Text 3"/>
          <p:cNvSpPr/>
          <p:nvPr/>
        </p:nvSpPr>
        <p:spPr>
          <a:xfrm>
            <a:off x="457200" y="1054931"/>
            <a:ext cx="54292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clear 3-stage path — what is live, what is next, what is on the horizon.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1829023" y="1467483"/>
            <a:ext cx="5485954" cy="10716"/>
          </a:xfrm>
          <a:prstGeom prst="rect">
            <a:avLst/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57363" y="1401403"/>
            <a:ext cx="142875" cy="142875"/>
          </a:xfrm>
          <a:prstGeom prst="roundRect">
            <a:avLst>
              <a:gd name="adj" fmla="val 6660000"/>
            </a:avLst>
          </a:prstGeom>
          <a:solidFill>
            <a:srgbClr val="344A91"/>
          </a:solidFill>
          <a:ln w="28575">
            <a:solidFill>
              <a:srgbClr val="EAF0FF"/>
            </a:solidFill>
            <a:prstDash val="solid"/>
          </a:ln>
          <a:effectLst>
            <a:outerShdw sx="100000" sy="100000" kx="0" ky="0" algn="bl" rotWithShape="0" blurRad="101600" dist="50800" dir="16200000">
              <a:srgbClr val="4E6AB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00563" y="1401403"/>
            <a:ext cx="142875" cy="142875"/>
          </a:xfrm>
          <a:prstGeom prst="roundRect">
            <a:avLst>
              <a:gd name="adj" fmla="val 6660000"/>
            </a:avLst>
          </a:prstGeom>
          <a:solidFill>
            <a:srgbClr val="344A91"/>
          </a:solidFill>
          <a:ln w="28575">
            <a:solidFill>
              <a:srgbClr val="EAF0FF"/>
            </a:solidFill>
            <a:prstDash val="solid"/>
          </a:ln>
          <a:effectLst>
            <a:outerShdw sx="100000" sy="100000" kx="0" ky="0" algn="bl" rotWithShape="0" blurRad="101600" dist="50800" dir="16200000">
              <a:srgbClr val="4E6AB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43763" y="1401403"/>
            <a:ext cx="142875" cy="142875"/>
          </a:xfrm>
          <a:prstGeom prst="roundRect">
            <a:avLst>
              <a:gd name="adj" fmla="val 6660000"/>
            </a:avLst>
          </a:prstGeom>
          <a:solidFill>
            <a:srgbClr val="344A91"/>
          </a:solidFill>
          <a:ln w="28575">
            <a:solidFill>
              <a:srgbClr val="EAF0FF"/>
            </a:solidFill>
            <a:prstDash val="solid"/>
          </a:ln>
          <a:effectLst>
            <a:outerShdw sx="100000" sy="100000" kx="0" ky="0" algn="bl" rotWithShape="0" blurRad="101600" dist="50800" dir="16200000">
              <a:srgbClr val="4E6AB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4344" y="1651434"/>
            <a:ext cx="2614613" cy="270033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4288">
            <a:solidFill>
              <a:srgbClr val="3F7A5C"/>
            </a:solidFill>
            <a:prstDash val="solid"/>
          </a:ln>
          <a:effectLst>
            <a:outerShdw sx="100000" sy="100000" kx="0" ky="0" algn="bl" rotWithShape="0" blurRad="152400" dist="38100" dir="5400000">
              <a:srgbClr val="1F2A28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2938" y="1830028"/>
            <a:ext cx="2257425" cy="214313"/>
          </a:xfrm>
          <a:prstGeom prst="roundRect">
            <a:avLst>
              <a:gd name="adj" fmla="val 4439990"/>
            </a:avLst>
          </a:prstGeom>
          <a:solidFill>
            <a:srgbClr val="EAF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2938" y="1830028"/>
            <a:ext cx="22574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0" kern="0" dirty="0">
                <a:solidFill>
                  <a:srgbClr val="3F7A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 · LIVE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2938" y="2144353"/>
            <a:ext cx="2257425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b="1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Shipping today.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2938" y="247720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842963" y="2470063"/>
            <a:ext cx="2057400" cy="15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daily check-ins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2938" y="270792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842963" y="2700784"/>
            <a:ext cx="205740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Engagement index + 5 dimensions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2938" y="293864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842963" y="2931505"/>
            <a:ext cx="2057400" cy="31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 dashboard + PulseAgent insights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2938" y="4063231"/>
            <a:ext cx="236715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at peoplepulse-app.vercel.app.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64694" y="1651434"/>
            <a:ext cx="2614613" cy="270033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4288">
            <a:solidFill>
              <a:srgbClr val="4E6ABF"/>
            </a:solidFill>
            <a:prstDash val="solid"/>
          </a:ln>
          <a:effectLst>
            <a:outerShdw sx="100000" sy="100000" kx="0" ky="0" algn="bl" rotWithShape="0" blurRad="152400" dist="38100" dir="5400000">
              <a:srgbClr val="1F2A28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43288" y="1830028"/>
            <a:ext cx="2257425" cy="214313"/>
          </a:xfrm>
          <a:prstGeom prst="roundRect">
            <a:avLst>
              <a:gd name="adj" fmla="val 4439990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43288" y="1830028"/>
            <a:ext cx="22574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0" kern="0" dirty="0">
                <a:solidFill>
                  <a:srgbClr val="344A9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 · 0–3 MONTHS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43288" y="2144353"/>
            <a:ext cx="2257425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b="1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we go next.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443288" y="247720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3643313" y="2470063"/>
            <a:ext cx="2167128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Advanced analytics + team comparisons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43288" y="270792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3643313" y="2700784"/>
            <a:ext cx="205740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engagement alerts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43288" y="293864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3643313" y="2931505"/>
            <a:ext cx="205740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 HR reports + exports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43288" y="4063231"/>
            <a:ext cx="236715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Already designed, not yet shipped.</a:t>
            </a:r>
            <a:endParaRPr lang="en-US" sz="8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0" y="1644290"/>
            <a:ext cx="2628900" cy="2714625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061472" y="1647862"/>
            <a:ext cx="2621756" cy="2707481"/>
          </a:xfrm>
          <a:prstGeom prst="roundRect">
            <a:avLst>
              <a:gd name="adj" fmla="val 6540"/>
            </a:avLst>
          </a:prstGeom>
          <a:noFill/>
          <a:ln w="7144">
            <a:solidFill>
              <a:srgbClr val="6A8BE8"/>
            </a:solidFill>
            <a:prstDash val="dash"/>
          </a:ln>
          <a:effectLst>
            <a:outerShdw sx="100000" sy="100000" kx="0" ky="0" algn="bl" rotWithShape="0" blurRad="19050" dist="9525" dir="5400000">
              <a:srgbClr val="1F2A28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236494" y="1822884"/>
            <a:ext cx="2271713" cy="214313"/>
          </a:xfrm>
          <a:prstGeom prst="roundRect">
            <a:avLst>
              <a:gd name="adj" fmla="val 4439990"/>
            </a:avLst>
          </a:prstGeom>
          <a:solidFill>
            <a:srgbClr val="EE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236494" y="1822884"/>
            <a:ext cx="22717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0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FUTURE · 3–12 MONTHS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236494" y="2137209"/>
            <a:ext cx="2271712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b="1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 the horizon.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6236494" y="24700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6436519" y="2462919"/>
            <a:ext cx="2071688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recommendations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236494" y="27007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0" name="Text 37"/>
          <p:cNvSpPr/>
          <p:nvPr/>
        </p:nvSpPr>
        <p:spPr>
          <a:xfrm>
            <a:off x="6436519" y="2693640"/>
            <a:ext cx="2071688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engagement signals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236494" y="293150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E6A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2" name="Text 39"/>
          <p:cNvSpPr/>
          <p:nvPr/>
        </p:nvSpPr>
        <p:spPr>
          <a:xfrm>
            <a:off x="6436519" y="2924361"/>
            <a:ext cx="2071688" cy="31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HRMS + Slack + payroll integrations, personalised interventions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236494" y="4070375"/>
            <a:ext cx="227171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i="1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Visually labelled future — not in the current build.</a:t>
            </a:r>
            <a:endParaRPr lang="en-US" sz="619" dirty="0"/>
          </a:p>
        </p:txBody>
      </p:sp>
      <p:sp>
        <p:nvSpPr>
          <p:cNvPr id="44" name="Text 41"/>
          <p:cNvSpPr/>
          <p:nvPr/>
        </p:nvSpPr>
        <p:spPr>
          <a:xfrm>
            <a:off x="457200" y="44589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EXISTING FUNCTIONALITY → NEXT PHASE → FUTURE HORIZON.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57200" y="4857750"/>
            <a:ext cx="7889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 · HACKATHON PITCH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361118" y="48577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21420000">
            <a:off x="6104681" y="3658342"/>
            <a:ext cx="3506887" cy="1884467"/>
          </a:xfrm>
          <a:prstGeom prst="roundRect">
            <a:avLst>
              <a:gd name="adj" fmla="val 9098"/>
            </a:avLst>
          </a:prstGeom>
          <a:solidFill>
            <a:srgbClr val="FFFFFF">
              <a:alpha val="12000"/>
            </a:srgbClr>
          </a:solidFill>
          <a:ln w="7144">
            <a:solidFill>
              <a:srgbClr val="E6E7EA"/>
            </a:solidFill>
            <a:prstDash val="solid"/>
          </a:ln>
          <a:effectLst>
            <a:outerShdw sx="100000" sy="100000" kx="0" ky="0" algn="bl" rotWithShape="0" blurRad="381000" dist="171450" dir="5400000">
              <a:srgbClr val="1F2A28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287310" y="3919415"/>
            <a:ext cx="2551159" cy="225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Index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854064" y="3883685"/>
            <a:ext cx="60063" cy="60063"/>
          </a:xfrm>
          <a:prstGeom prst="roundRect">
            <a:avLst>
              <a:gd name="adj" fmla="val 31717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953940" y="3878451"/>
            <a:ext cx="60063" cy="60063"/>
          </a:xfrm>
          <a:prstGeom prst="roundRect">
            <a:avLst>
              <a:gd name="adj" fmla="val 31717"/>
            </a:avLst>
          </a:prstGeom>
          <a:solidFill>
            <a:srgbClr val="3F7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755868" y="3835332"/>
            <a:ext cx="388132" cy="18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7B84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7d trend</a:t>
            </a:r>
            <a:endParaRPr lang="en-US" sz="600" dirty="0"/>
          </a:p>
        </p:txBody>
      </p:sp>
      <p:sp>
        <p:nvSpPr>
          <p:cNvPr id="8" name="Shape 5"/>
          <p:cNvSpPr/>
          <p:nvPr/>
        </p:nvSpPr>
        <p:spPr>
          <a:xfrm>
            <a:off x="6300396" y="5148228"/>
            <a:ext cx="3116207" cy="0"/>
          </a:xfrm>
          <a:prstGeom prst="line">
            <a:avLst/>
          </a:prstGeom>
          <a:noFill/>
          <a:ln w="7144">
            <a:solidFill>
              <a:srgbClr val="E6E7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22104" y="4620467"/>
            <a:ext cx="372519" cy="524198"/>
          </a:xfrm>
          <a:prstGeom prst="roundRect">
            <a:avLst>
              <a:gd name="adj" fmla="val 10228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704630" y="4480374"/>
            <a:ext cx="378794" cy="643915"/>
          </a:xfrm>
          <a:prstGeom prst="roundRect">
            <a:avLst>
              <a:gd name="adj" fmla="val 10058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103082" y="4644143"/>
            <a:ext cx="369142" cy="459770"/>
          </a:xfrm>
          <a:prstGeom prst="roundRect">
            <a:avLst>
              <a:gd name="adj" fmla="val 10321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475484" y="4310876"/>
            <a:ext cx="385541" cy="772660"/>
          </a:xfrm>
          <a:prstGeom prst="roundRect">
            <a:avLst>
              <a:gd name="adj" fmla="val 9882"/>
            </a:avLst>
          </a:prstGeom>
          <a:solidFill>
            <a:srgbClr val="3F7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860425" y="4216819"/>
            <a:ext cx="389402" cy="846341"/>
          </a:xfrm>
          <a:prstGeom prst="roundRect">
            <a:avLst>
              <a:gd name="adj" fmla="val 9784"/>
            </a:avLst>
          </a:prstGeom>
          <a:solidFill>
            <a:srgbClr val="3F7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257906" y="4362085"/>
            <a:ext cx="380721" cy="680699"/>
          </a:xfrm>
          <a:prstGeom prst="roundRect">
            <a:avLst>
              <a:gd name="adj" fmla="val 10007"/>
            </a:avLst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638990" y="4194460"/>
            <a:ext cx="388438" cy="827949"/>
          </a:xfrm>
          <a:prstGeom prst="roundRect">
            <a:avLst>
              <a:gd name="adj" fmla="val 9809"/>
            </a:avLst>
          </a:prstGeom>
          <a:solidFill>
            <a:srgbClr val="3F7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9023935" y="4100514"/>
            <a:ext cx="392293" cy="901518"/>
          </a:xfrm>
          <a:prstGeom prst="roundRect">
            <a:avLst>
              <a:gd name="adj" fmla="val 9712"/>
            </a:avLst>
          </a:prstGeom>
          <a:solidFill>
            <a:srgbClr val="3F7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351990" y="5201773"/>
            <a:ext cx="4243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790617" y="5180135"/>
            <a:ext cx="39859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203495" y="5156908"/>
            <a:ext cx="4289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646693" y="5134698"/>
            <a:ext cx="40951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Thu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070495" y="5114795"/>
            <a:ext cx="3654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Fri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450266" y="5093385"/>
            <a:ext cx="3942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858797" y="5071092"/>
            <a:ext cx="28520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968069" y="5048105"/>
            <a:ext cx="175931" cy="9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</a:t>
            </a:r>
            <a:endParaRPr lang="en-US" sz="6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841" y="1034839"/>
            <a:ext cx="157163" cy="15716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123841" y="1034839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4E6ABF"/>
          </a:solidFill>
          <a:ln/>
          <a:effectLst>
            <a:outerShdw sx="100000" sy="100000" kx="0" ky="0" algn="bl" rotWithShape="0" blurRad="101600" dist="50800" dir="16200000">
              <a:srgbClr val="4E6ABF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352441" y="1038411"/>
            <a:ext cx="7825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16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274320" y="1392027"/>
            <a:ext cx="8595360" cy="1652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16"/>
              </a:lnSpc>
              <a:buNone/>
            </a:pPr>
            <a:r>
              <a:rPr lang="en-US" sz="3825" b="1" spc="-96" kern="0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Don’t wait for people problems to become business problems.</a:t>
            </a:r>
            <a:endParaRPr lang="en-US" sz="3825" dirty="0"/>
          </a:p>
        </p:txBody>
      </p:sp>
      <p:sp>
        <p:nvSpPr>
          <p:cNvPr id="29" name="Text 25"/>
          <p:cNvSpPr/>
          <p:nvPr/>
        </p:nvSpPr>
        <p:spPr>
          <a:xfrm>
            <a:off x="4286250" y="3122042"/>
            <a:ext cx="571500" cy="7144"/>
          </a:xfrm>
          <a:prstGeom prst="rect">
            <a:avLst/>
          </a:prstGeom>
          <a:solidFill>
            <a:srgbClr val="4E6A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2373279" y="3329211"/>
            <a:ext cx="4397331" cy="270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74"/>
              </a:lnSpc>
              <a:buNone/>
            </a:pPr>
            <a:r>
              <a:rPr lang="en-US" sz="1463" spc="-15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Listen earlier. Understand better. Act sooner.</a:t>
            </a:r>
            <a:endParaRPr lang="en-US" sz="1463" dirty="0"/>
          </a:p>
        </p:txBody>
      </p:sp>
      <p:sp>
        <p:nvSpPr>
          <p:cNvPr id="31" name="Text 27"/>
          <p:cNvSpPr/>
          <p:nvPr/>
        </p:nvSpPr>
        <p:spPr>
          <a:xfrm>
            <a:off x="4068479" y="3765649"/>
            <a:ext cx="100693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3241003" y="3937099"/>
            <a:ext cx="266188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A3A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 Engagement &amp; People Analytics.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969009" y="3907631"/>
            <a:ext cx="589443" cy="12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BY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2000250" y="4057650"/>
            <a:ext cx="1322066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F2A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Apurv Gaurav Prasad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550680" y="3907631"/>
            <a:ext cx="806003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PRODUCT</a:t>
            </a:r>
            <a:endParaRPr lang="en-US" sz="600" dirty="0"/>
          </a:p>
        </p:txBody>
      </p:sp>
      <p:sp>
        <p:nvSpPr>
          <p:cNvPr id="36" name="Text 32"/>
          <p:cNvSpPr/>
          <p:nvPr/>
        </p:nvSpPr>
        <p:spPr>
          <a:xfrm>
            <a:off x="3704258" y="4071938"/>
            <a:ext cx="1752005" cy="214313"/>
          </a:xfrm>
          <a:prstGeom prst="roundRect">
            <a:avLst>
              <a:gd name="adj" fmla="val 4439990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3704258" y="4071938"/>
            <a:ext cx="1773436" cy="274320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0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PEOPLEPULSE-APP.VERCEL.APP</a:t>
            </a:r>
            <a:endParaRPr lang="en-US" sz="675" dirty="0"/>
          </a:p>
        </p:txBody>
      </p:sp>
      <p:sp>
        <p:nvSpPr>
          <p:cNvPr id="38" name="Text 34"/>
          <p:cNvSpPr/>
          <p:nvPr/>
        </p:nvSpPr>
        <p:spPr>
          <a:xfrm>
            <a:off x="5499125" y="4059136"/>
            <a:ext cx="554310" cy="239916"/>
          </a:xfrm>
          <a:prstGeom prst="roundRect">
            <a:avLst>
              <a:gd name="adj" fmla="val 3966169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5499125" y="4071938"/>
            <a:ext cx="5543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0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485069" y="4316311"/>
            <a:ext cx="787554" cy="239916"/>
          </a:xfrm>
          <a:prstGeom prst="roundRect">
            <a:avLst>
              <a:gd name="adj" fmla="val 3966169"/>
            </a:avLst>
          </a:prstGeom>
          <a:solidFill>
            <a:srgbClr val="EA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4507929" y="4329113"/>
            <a:ext cx="7418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0" kern="0" dirty="0">
                <a:solidFill>
                  <a:srgbClr val="344A9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PORTFOLIO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6636544" y="3914775"/>
            <a:ext cx="500063" cy="500063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4288">
            <a:solidFill>
              <a:srgbClr val="1F2A2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6700838" y="3979069"/>
            <a:ext cx="82153" cy="82153"/>
          </a:xfrm>
          <a:prstGeom prst="rect">
            <a:avLst/>
          </a:prstGeom>
          <a:solidFill>
            <a:srgbClr val="1F2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6797278" y="3979069"/>
            <a:ext cx="82153" cy="82153"/>
          </a:xfrm>
          <a:prstGeom prst="rect">
            <a:avLst/>
          </a:prstGeom>
          <a:solidFill>
            <a:srgbClr val="1F2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6893719" y="3979069"/>
            <a:ext cx="82153" cy="8215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6990159" y="3979069"/>
            <a:ext cx="82153" cy="82153"/>
          </a:xfrm>
          <a:prstGeom prst="rect">
            <a:avLst/>
          </a:prstGeom>
          <a:solidFill>
            <a:srgbClr val="1F2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6700838" y="4075509"/>
            <a:ext cx="82153" cy="8215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6797278" y="4075509"/>
            <a:ext cx="82153" cy="82153"/>
          </a:xfrm>
          <a:prstGeom prst="rect">
            <a:avLst/>
          </a:prstGeom>
          <a:solidFill>
            <a:srgbClr val="1F2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6893719" y="4075509"/>
            <a:ext cx="82153" cy="82153"/>
          </a:xfrm>
          <a:prstGeom prst="rect">
            <a:avLst/>
          </a:prstGeom>
          <a:solidFill>
            <a:srgbClr val="1F2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6990159" y="4075509"/>
            <a:ext cx="82153" cy="8215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6700838" y="4171950"/>
            <a:ext cx="82153" cy="82153"/>
          </a:xfrm>
          <a:prstGeom prst="rect">
            <a:avLst/>
          </a:prstGeom>
          <a:solidFill>
            <a:srgbClr val="1F2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6797278" y="4171950"/>
            <a:ext cx="82153" cy="8215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6893719" y="4171950"/>
            <a:ext cx="82153" cy="82153"/>
          </a:xfrm>
          <a:prstGeom prst="rect">
            <a:avLst/>
          </a:prstGeom>
          <a:solidFill>
            <a:srgbClr val="1F2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6990159" y="4171950"/>
            <a:ext cx="82153" cy="82153"/>
          </a:xfrm>
          <a:prstGeom prst="rect">
            <a:avLst/>
          </a:prstGeom>
          <a:solidFill>
            <a:srgbClr val="1F2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6700838" y="4268391"/>
            <a:ext cx="82153" cy="82153"/>
          </a:xfrm>
          <a:prstGeom prst="rect">
            <a:avLst/>
          </a:prstGeom>
          <a:solidFill>
            <a:srgbClr val="1F2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6797278" y="4268391"/>
            <a:ext cx="82153" cy="82153"/>
          </a:xfrm>
          <a:prstGeom prst="rect">
            <a:avLst/>
          </a:prstGeom>
          <a:solidFill>
            <a:srgbClr val="1F2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6893719" y="4268391"/>
            <a:ext cx="82153" cy="8215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6990159" y="4268391"/>
            <a:ext cx="82153" cy="82153"/>
          </a:xfrm>
          <a:prstGeom prst="rect">
            <a:avLst/>
          </a:prstGeom>
          <a:solidFill>
            <a:srgbClr val="1F2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6765578" y="4464844"/>
            <a:ext cx="387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B84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2026-09-10T19:52:19Z</dcterms:created>
  <dcterms:modified xsi:type="dcterms:W3CDTF">2026-09-10T19:52:19Z</dcterms:modified>
</cp:coreProperties>
</file>